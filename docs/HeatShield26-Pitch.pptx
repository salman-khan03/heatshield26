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No intervention</c:v>
                </c:pt>
              </c:strCache>
            </c:strRef>
          </c:tx>
          <c:spPr>
            <a:solidFill>
              <a:srgbClr val="5C6878"/>
            </a:solidFill>
            <a:effectLst/>
          </c:spPr>
          <c:invertIfNegative val="0"/>
          <c:dLbls>
            <c:numFmt formatCode="#,##0" sourceLinked="0"/>
            <c:txPr>
              <a:bodyPr/>
              <a:lstStyle/>
              <a:p>
                <a:pPr>
                  <a:defRPr b="0" i="0" strike="noStrike" sz="1100" u="none">
                    <a:solidFill>
                      <a:srgbClr val="E8EDF2"/>
                    </a:solidFill>
                    <a:latin typeface="Arial"/>
                  </a:defRPr>
                </a:pPr>
              </a:p>
            </c:txPr>
            <c:showLegendKey val="0"/>
            <c:showVal val="1"/>
            <c:showCatName val="0"/>
            <c:showSerName val="0"/>
            <c:showPercent val="0"/>
            <c:showBubbleSize val="0"/>
            <c:showLeaderLines val="0"/>
          </c:dLbls>
          <c:cat>
            <c:multiLvlStrRef>
              <c:f>Sheet1!$A$2:$A$3</c:f>
              <c:multiLvlStrCache>
                <c:ptCount val="2"/>
                <c:lvl>
                  <c:pt idx="0">
                    <c:v>Critical zones</c:v>
                  </c:pt>
                  <c:pt idx="1">
                    <c:v>High zones</c:v>
                  </c:pt>
                </c:lvl>
              </c:multiLvlStrCache>
            </c:multiLvlStrRef>
          </c:cat>
          <c:val>
            <c:numRef>
              <c:f>Sheet1!$B$2:$B$3</c:f>
              <c:numCache>
                <c:formatCode>General</c:formatCode>
                <c:ptCount val="2"/>
                <c:pt idx="0">
                  <c:v>5</c:v>
                </c:pt>
                <c:pt idx="1">
                  <c:v>74</c:v>
                </c:pt>
              </c:numCache>
            </c:numRef>
          </c:val>
        </c:ser>
        <c:ser>
          <c:idx val="1"/>
          <c:order val="1"/>
          <c:tx>
            <c:strRef>
              <c:f>Sheet1!$C$1</c:f>
              <c:strCache>
                <c:ptCount val="1"/>
                <c:pt idx="0">
                  <c:v>With $1M plan</c:v>
                </c:pt>
              </c:strCache>
            </c:strRef>
          </c:tx>
          <c:spPr>
            <a:solidFill>
              <a:srgbClr val="E8640F"/>
            </a:solidFill>
            <a:effectLst/>
          </c:spPr>
          <c:invertIfNegative val="0"/>
          <c:dLbls>
            <c:numFmt formatCode="#,##0" sourceLinked="0"/>
            <c:txPr>
              <a:bodyPr/>
              <a:lstStyle/>
              <a:p>
                <a:pPr>
                  <a:defRPr b="0" i="0" strike="noStrike" sz="1100" u="none">
                    <a:solidFill>
                      <a:srgbClr val="E8EDF2"/>
                    </a:solidFill>
                    <a:latin typeface="Arial"/>
                  </a:defRPr>
                </a:pPr>
              </a:p>
            </c:txPr>
            <c:showLegendKey val="0"/>
            <c:showVal val="1"/>
            <c:showCatName val="0"/>
            <c:showSerName val="0"/>
            <c:showPercent val="0"/>
            <c:showBubbleSize val="0"/>
            <c:showLeaderLines val="0"/>
          </c:dLbls>
          <c:cat>
            <c:multiLvlStrRef>
              <c:f>Sheet1!$A$2:$A$3</c:f>
              <c:multiLvlStrCache>
                <c:ptCount val="2"/>
                <c:lvl>
                  <c:pt idx="0">
                    <c:v>Critical zones</c:v>
                  </c:pt>
                  <c:pt idx="1">
                    <c:v>High zones</c:v>
                  </c:pt>
                </c:lvl>
              </c:multiLvlStrCache>
            </c:multiLvlStrRef>
          </c:cat>
          <c:val>
            <c:numRef>
              <c:f>Sheet1!$C$2:$C$3</c:f>
              <c:numCache>
                <c:formatCode>General</c:formatCode>
                <c:ptCount val="2"/>
                <c:pt idx="0">
                  <c:v>0</c:v>
                </c:pt>
                <c:pt idx="1">
                  <c:v>56</c:v>
                </c:pt>
              </c:numCache>
            </c:numRef>
          </c:val>
        </c:ser>
        <c:dLbls>
          <c:numFmt formatCode="#,##0" sourceLinked="0"/>
          <c:txPr>
            <a:bodyPr/>
            <a:lstStyle/>
            <a:p>
              <a:pPr>
                <a:defRPr b="0" i="0" strike="noStrike" sz="1100" u="none">
                  <a:solidFill>
                    <a:srgbClr val="E8EDF2"/>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9AA6B4"/>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000">
              <a:solidFill>
                <a:srgbClr val="9AA6B4"/>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 — calm, look at the judges, not the screen]
Hi, I'm Salman. Houston just hosted World Cup matches at NRG Stadium — sixty-eight thousand people in one of the hottest, most humid big cities in the country.
Our question is simple and practical: if Houston had one million dollars to protect people from heat at its next mega-event, where exactly should it spend it?
This is HeatShield 26. It gives a city a real answer — a map, a ranked plan, and the evidence behind every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Here's the problem. At a normal Houston summer afternoon — ninety-eight degrees, fifty percent humidity — the heat index is a hundred and thirteen. The Weather Service calls that 'Danger'.
But heat isn't evenly distributed. Houston's own H3AT campaign collected over four hundred thousand street-level readings and found a fourteen-degree gap between neighborhoods.
Now drop sixty-eight thousand fans into that. The risk isn't the stadium bowl — it's the parking lots, the rail platforms, the security lines, and the neighborhoods around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
What's frustrating is that the data already exists. Heat maps from HARC. Transit from METRO. Health data from the CDC. Tree canopy from the Forest Service. Cooling centers from the City.
But they sit in separate silos. A planner can look at any one of them — nobody can answer the question that matters on event day: where is it dangerous, and what do we fund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
HeatShield does four things.
One — it measures: we pulled eleven open datasets and joined them onto about fourteen hundred hexagons, each about a tenth of a square kilometer.
Two — it models the crowd: attendance gets routed from the actual rail stations and the actual NRG parking lots, weighted by their real capacities.
Three — it scores risk for every cell. Four — it helps you act: place interventions yourself or give it a budget.
And it's transparent — no black-box AI deciding where the money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
Here's the model. It's a weighted index, not a black box. Forty percent heat, twenty-five percent crowd, twenty percent health and social vulnerability, ten percent shade, five percent access to cooling.
Every component is normalized to zero–one hundred, every weight is a slider in the app, and we're explicit that this is decision support — not a medical prediction. Where we make assumptions, like the cost of a cooling hub, we label them as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APP — ~45 sec. If Wi-Fi fails, stay on this slide and narrate the screenshot.]
This is the planner. Sixty-eight thousand attendees, ninety-eight degrees, afternoon kickoff.
Red is critical. Notice it isn't the whole city — it's the NRG parking lots right at the stadium edge, where people tailgate on asphalt, and the rail stations where fans queue. Five critical zones, seventy-nine high-risk zones, and almost nineteen thousand visitors whose route crosses a critical zone.
[Drag temperature to 88] Watch — at eighty-eight degrees the critical zones disappear. [Back to 98.] [Click 3D] The height is risk. [Switch layer to Crowd, show routes] And these are the routes we model — rail, parking, rideshare, walk-ups.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app: click the #1 zone — ~30 sec]
Click any zone and HeatShield shows why. This cell scores seventy-nine. Crowd exposure is maxed — about fifty-four hundred person-hours. Two percent tree canopy. A hundred-and-twelve-degree heat index. And the nearest cooling center is more than a mile away.
[Click Explain this recommendation] This is the only place we use AI. Gemini turns these exact numbers into a short memo a planner could paste into a briefing. It's told to use only these facts — the scores themselves are deterministic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app: Optimize tab → Optimize $1M plan — ~40 sec. This is the money moment; pause after clicking.]
Knowing where the problem is isn't enough — cities need to know what to do. So I give it the budget: one million dollars.
[Click] In about a tenth of a second it evaluates over eleven thousand options and builds a portfolio: water and misting stations, shade over the queues, a cooling hub, a shuttle loop.
Critical zones go from five to zero. Visitors routed through critical zones go from nearly nineteen thousand to zero. Total exposure burden drops eighteen percent — for nine hundred eighty thousand dollars.
The costs and effect sizes are planning assumptions, and they're labeled that way — a city would swap in its real procurement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 this slide wins the data analytics points; slow down]
We didn't just stack layers. We tested them — and the data corrected us more than once.
Houston ran heat campaigns in 2020 and 2024. Where they overlap, their afternoon maps actually disagree — the correlation is negative. So instead of averaging two inconsistent maps, we use one primary source and document why.
We only interpolate heat into gaps where cross-validation proves it beats a flat guess. We caught that the high-resolution LiDAR canopy only covers certain neighborhoods — it said Hermann Park had no trees — and switched to a consistent national dataset.
And the optimizer's math is verified against a full re-scoring to four decimal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
Why does this matter beyond the World Cup? The tournament is over — but NRG Park hosts the Rodeo and Texans games every year, and Houston's heat season gets longer.
It's feasible today: it only uses data Houston already publishes, it recommends things a city can actually buy, and it runs in a browser. And every cooling hub placed for one event becomes a resilience hub for the neighborhood next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 — skip if short on time]
Quickly on the build: a Node pipeline pulls the live government map services and samples the heat and canopy rasters onto a hex grid. The model and optimizer are TypeScript that runs entirely in the browser — that's why every slider is instant. The front end is Next.js and MapLibre. Everything is open source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 — slow, then stop talking]
So: where should Houston invest a million dollars to protect people from heat at its next mega-event?
Now there's an answer — a map, a plan, and the evidence behind every dollar. FIFA was the case study. HeatShield is built for every event Houston hosts next.
Thank you — I'd love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show if asked about accuracy or assumptions]
We're upfront about limits. The crowd flows are modeled because no public FIFA pedestrian counts exist — so every assumption is a visible slider. Costs are placeholders for comparison. The CDC data describes residents, not visiting fans. And the heat surfaces come from single measurement days, which we apply to a forecast the planner chooses.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D12"/>
        </a:solidFill>
      </p:bgPr>
    </p:bg>
    <p:spTree>
      <p:nvGrpSpPr>
        <p:cNvPr id="1" name=""/>
        <p:cNvGrpSpPr/>
        <p:nvPr/>
      </p:nvGrpSpPr>
      <p:grpSpPr>
        <a:xfrm>
          <a:off x="0" y="0"/>
          <a:ext cx="0" cy="0"/>
          <a:chOff x="0" y="0"/>
          <a:chExt cx="0" cy="0"/>
        </a:xfrm>
      </p:grpSpPr>
      <p:pic>
        <p:nvPicPr>
          <p:cNvPr id="2" name="Image 0" descr="C:\Users\Stint\Desktop\Projects\heatshield26\docs\screenshots\04-3d.png">    </p:cNvPr>
          <p:cNvPicPr>
            <a:picLocks noChangeAspect="1"/>
          </p:cNvPicPr>
          <p:nvPr/>
        </p:nvPicPr>
        <p:blipFill>
          <a:blip r:embed="rId1">
            <a:alphaModFix amt="45000"/>
          </a:blip>
          <a:srcRect l="20279" r="20279" t="0" b="0"/>
          <a:stretch/>
        </p:blipFill>
        <p:spPr>
          <a:xfrm>
            <a:off x="5669280" y="0"/>
            <a:ext cx="6522415" cy="6858000"/>
          </a:xfrm>
          <a:prstGeom prst="rect">
            <a:avLst/>
          </a:prstGeom>
        </p:spPr>
      </p:pic>
      <p:sp>
        <p:nvSpPr>
          <p:cNvPr id="3" name="Shape 0"/>
          <p:cNvSpPr/>
          <p:nvPr/>
        </p:nvSpPr>
        <p:spPr>
          <a:xfrm>
            <a:off x="0" y="0"/>
            <a:ext cx="6583680" cy="6858000"/>
          </a:xfrm>
          <a:prstGeom prst="rect">
            <a:avLst/>
          </a:prstGeom>
          <a:solidFill>
            <a:srgbClr val="0A0D12"/>
          </a:solidFill>
          <a:ln w="12700">
            <a:solidFill>
              <a:srgbClr val="0A0D12"/>
            </a:solidFill>
            <a:prstDash val="solid"/>
          </a:ln>
        </p:spPr>
      </p:sp>
      <p:sp>
        <p:nvSpPr>
          <p:cNvPr id="4" name="Shape 1"/>
          <p:cNvSpPr/>
          <p:nvPr/>
        </p:nvSpPr>
        <p:spPr>
          <a:xfrm>
            <a:off x="548640" y="640080"/>
            <a:ext cx="640080" cy="640080"/>
          </a:xfrm>
          <a:prstGeom prst="ellipse">
            <a:avLst/>
          </a:prstGeom>
          <a:solidFill>
            <a:srgbClr val="FF7A1A"/>
          </a:solidFill>
          <a:ln w="12700">
            <a:solidFill>
              <a:srgbClr val="FF7A1A"/>
            </a:solidFill>
            <a:prstDash val="solid"/>
          </a:ln>
        </p:spPr>
      </p:sp>
      <p:pic>
        <p:nvPicPr>
          <p:cNvPr id="5" name="Image 1" descr="preencoded.png">    </p:cNvPr>
          <p:cNvPicPr>
            <a:picLocks noChangeAspect="1"/>
          </p:cNvPicPr>
          <p:nvPr/>
        </p:nvPicPr>
        <p:blipFill>
          <a:blip r:embed="rId2"/>
          <a:stretch>
            <a:fillRect/>
          </a:stretch>
        </p:blipFill>
        <p:spPr>
          <a:xfrm>
            <a:off x="715061" y="806501"/>
            <a:ext cx="307238" cy="307238"/>
          </a:xfrm>
          <a:prstGeom prst="rect">
            <a:avLst/>
          </a:prstGeom>
        </p:spPr>
      </p:pic>
      <p:sp>
        <p:nvSpPr>
          <p:cNvPr id="6" name="Text 2"/>
          <p:cNvSpPr txBox="1"/>
          <p:nvPr/>
        </p:nvSpPr>
        <p:spPr>
          <a:xfrm>
            <a:off x="1371600" y="658368"/>
            <a:ext cx="4572000" cy="603504"/>
          </a:xfrm>
          <a:prstGeom prst="rect">
            <a:avLst/>
          </a:prstGeom>
          <a:noFill/>
          <a:ln/>
        </p:spPr>
        <p:txBody>
          <a:bodyPr wrap="square" lIns="0" tIns="0" rIns="0" bIns="0" rtlCol="0" anchor="ctr"/>
          <a:lstStyle/>
          <a:p>
            <a:pPr indent="0" marL="0">
              <a:buNone/>
            </a:pPr>
            <a:r>
              <a:rPr lang="en-US" sz="2600" b="1" dirty="0">
                <a:solidFill>
                  <a:srgbClr val="E8EDF2"/>
                </a:solidFill>
                <a:latin typeface="Calibri" pitchFamily="34" charset="0"/>
                <a:ea typeface="Calibri" pitchFamily="34" charset="-122"/>
                <a:cs typeface="Calibri" pitchFamily="34" charset="-120"/>
              </a:rPr>
              <a:t>HeatShield 26</a:t>
            </a:r>
            <a:endParaRPr lang="en-US" sz="2600" dirty="0"/>
          </a:p>
        </p:txBody>
      </p:sp>
      <p:sp>
        <p:nvSpPr>
          <p:cNvPr id="7" name="Text 3"/>
          <p:cNvSpPr txBox="1"/>
          <p:nvPr/>
        </p:nvSpPr>
        <p:spPr>
          <a:xfrm>
            <a:off x="548640" y="1737360"/>
            <a:ext cx="5760720" cy="2926080"/>
          </a:xfrm>
          <a:prstGeom prst="rect">
            <a:avLst/>
          </a:prstGeom>
          <a:noFill/>
          <a:ln/>
        </p:spPr>
        <p:txBody>
          <a:bodyPr wrap="square" lIns="0" tIns="0" rIns="0" bIns="0" rtlCol="0" anchor="t"/>
          <a:lstStyle/>
          <a:p>
            <a:pPr indent="0" marL="0">
              <a:buNone/>
            </a:pPr>
            <a:r>
              <a:rPr lang="en-US" sz="3600" b="1" dirty="0">
                <a:solidFill>
                  <a:srgbClr val="E8EDF2"/>
                </a:solidFill>
                <a:latin typeface="Calibri" pitchFamily="34" charset="0"/>
                <a:ea typeface="Calibri" pitchFamily="34" charset="-122"/>
                <a:cs typeface="Calibri" pitchFamily="34" charset="-120"/>
              </a:rPr>
              <a:t>Where should Houston invest $1M to protect visitors and residents from extreme heat during its next mega-event?</a:t>
            </a:r>
            <a:endParaRPr lang="en-US" sz="3600" dirty="0"/>
          </a:p>
        </p:txBody>
      </p:sp>
      <p:sp>
        <p:nvSpPr>
          <p:cNvPr id="8" name="Text 4"/>
          <p:cNvSpPr txBox="1"/>
          <p:nvPr/>
        </p:nvSpPr>
        <p:spPr>
          <a:xfrm>
            <a:off x="548640" y="4754880"/>
            <a:ext cx="5669280" cy="640080"/>
          </a:xfrm>
          <a:prstGeom prst="rect">
            <a:avLst/>
          </a:prstGeom>
          <a:noFill/>
          <a:ln/>
        </p:spPr>
        <p:txBody>
          <a:bodyPr wrap="square" lIns="0" tIns="0" rIns="0" bIns="0" rtlCol="0" anchor="ctr"/>
          <a:lstStyle/>
          <a:p>
            <a:pPr indent="0" marL="0">
              <a:buNone/>
            </a:pPr>
            <a:r>
              <a:rPr lang="en-US" sz="1700" dirty="0">
                <a:solidFill>
                  <a:srgbClr val="9AA6B4"/>
                </a:solidFill>
                <a:latin typeface="Calibri" pitchFamily="34" charset="0"/>
                <a:ea typeface="Calibri" pitchFamily="34" charset="-122"/>
                <a:cs typeface="Calibri" pitchFamily="34" charset="-120"/>
              </a:rPr>
              <a:t>A geospatial decision-support platform for NRG Park and its visitor corridors</a:t>
            </a:r>
            <a:endParaRPr lang="en-US" sz="1700" dirty="0"/>
          </a:p>
        </p:txBody>
      </p:sp>
      <p:sp>
        <p:nvSpPr>
          <p:cNvPr id="9" name="Text 5"/>
          <p:cNvSpPr txBox="1"/>
          <p:nvPr/>
        </p:nvSpPr>
        <p:spPr>
          <a:xfrm>
            <a:off x="548640" y="5989320"/>
            <a:ext cx="5852160" cy="320040"/>
          </a:xfrm>
          <a:prstGeom prst="rect">
            <a:avLst/>
          </a:prstGeom>
          <a:noFill/>
          <a:ln/>
        </p:spPr>
        <p:txBody>
          <a:bodyPr wrap="square" lIns="0" tIns="0" rIns="0" bIns="0" rtlCol="0" anchor="ctr"/>
          <a:lstStyle/>
          <a:p>
            <a:pPr indent="0" marL="0">
              <a:buNone/>
            </a:pPr>
            <a:r>
              <a:rPr lang="en-US" sz="1200" b="1" dirty="0">
                <a:solidFill>
                  <a:srgbClr val="FF7A1A"/>
                </a:solidFill>
                <a:latin typeface="Calibri" pitchFamily="34" charset="0"/>
                <a:ea typeface="Calibri" pitchFamily="34" charset="-122"/>
                <a:cs typeface="Calibri" pitchFamily="34" charset="-120"/>
              </a:rPr>
              <a:t>Rice Urban Sustainability Hackathon  ·  Track 3: Public Health &amp; the Built Environment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D12"/>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200" b="1" spc="300" kern="0" dirty="0">
                <a:solidFill>
                  <a:srgbClr val="FF7A1A"/>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749808"/>
            <a:ext cx="11094415" cy="914400"/>
          </a:xfrm>
          <a:prstGeom prst="rect">
            <a:avLst/>
          </a:prstGeom>
          <a:noFill/>
          <a:ln/>
        </p:spPr>
        <p:txBody>
          <a:bodyPr wrap="square" lIns="0" tIns="0" rIns="0" bIns="0" rtlCol="0" anchor="t"/>
          <a:lstStyle/>
          <a:p>
            <a:pPr indent="0" marL="0">
              <a:buNone/>
            </a:pPr>
            <a:r>
              <a:rPr lang="en-US" sz="3400" b="1" dirty="0">
                <a:solidFill>
                  <a:srgbClr val="E8EDF2"/>
                </a:solidFill>
                <a:latin typeface="Calibri" pitchFamily="34" charset="0"/>
                <a:ea typeface="Calibri" pitchFamily="34" charset="-122"/>
                <a:cs typeface="Calibri" pitchFamily="34" charset="-120"/>
              </a:rPr>
              <a:t>Mega-event crowds meet Houston heat — unevenly</a:t>
            </a:r>
            <a:endParaRPr lang="en-US" sz="3400" dirty="0"/>
          </a:p>
        </p:txBody>
      </p:sp>
      <p:sp>
        <p:nvSpPr>
          <p:cNvPr id="4" name="Shape 2"/>
          <p:cNvSpPr/>
          <p:nvPr/>
        </p:nvSpPr>
        <p:spPr>
          <a:xfrm>
            <a:off x="548640" y="2103120"/>
            <a:ext cx="2606040" cy="2468880"/>
          </a:xfrm>
          <a:prstGeom prst="roundRect">
            <a:avLst>
              <a:gd name="adj" fmla="val 4444"/>
            </a:avLst>
          </a:prstGeom>
          <a:solidFill>
            <a:srgbClr val="151C25"/>
          </a:solidFill>
          <a:ln w="9525">
            <a:solidFill>
              <a:srgbClr val="2A3441"/>
            </a:solidFill>
            <a:prstDash val="solid"/>
          </a:ln>
        </p:spPr>
      </p:sp>
      <p:sp>
        <p:nvSpPr>
          <p:cNvPr id="5" name="Text 3"/>
          <p:cNvSpPr txBox="1"/>
          <p:nvPr/>
        </p:nvSpPr>
        <p:spPr>
          <a:xfrm>
            <a:off x="822960" y="2377440"/>
            <a:ext cx="2194560" cy="914400"/>
          </a:xfrm>
          <a:prstGeom prst="rect">
            <a:avLst/>
          </a:prstGeom>
          <a:noFill/>
          <a:ln/>
        </p:spPr>
        <p:txBody>
          <a:bodyPr wrap="square" lIns="0" tIns="0" rIns="0" bIns="0" rtlCol="0" anchor="ctr"/>
          <a:lstStyle/>
          <a:p>
            <a:pPr indent="0" marL="0">
              <a:buNone/>
            </a:pPr>
            <a:r>
              <a:rPr lang="en-US" sz="4400" b="1" dirty="0">
                <a:solidFill>
                  <a:srgbClr val="E5383B"/>
                </a:solidFill>
                <a:latin typeface="Calibri" pitchFamily="34" charset="0"/>
                <a:ea typeface="Calibri" pitchFamily="34" charset="-122"/>
                <a:cs typeface="Calibri" pitchFamily="34" charset="-120"/>
              </a:rPr>
              <a:t>113°F</a:t>
            </a:r>
            <a:endParaRPr lang="en-US" sz="4400" dirty="0"/>
          </a:p>
        </p:txBody>
      </p:sp>
      <p:sp>
        <p:nvSpPr>
          <p:cNvPr id="6" name="Text 4"/>
          <p:cNvSpPr txBox="1"/>
          <p:nvPr/>
        </p:nvSpPr>
        <p:spPr>
          <a:xfrm>
            <a:off x="822960" y="3337560"/>
            <a:ext cx="2103120" cy="1097280"/>
          </a:xfrm>
          <a:prstGeom prst="rect">
            <a:avLst/>
          </a:prstGeom>
          <a:noFill/>
          <a:ln/>
        </p:spPr>
        <p:txBody>
          <a:bodyPr wrap="square" lIns="0" tIns="0" rIns="0" bIns="0" rtlCol="0" anchor="t"/>
          <a:lstStyle/>
          <a:p>
            <a:pPr indent="0" marL="0">
              <a:buNone/>
            </a:pPr>
            <a:r>
              <a:rPr lang="en-US" sz="1400" dirty="0">
                <a:solidFill>
                  <a:srgbClr val="9AA6B4"/>
                </a:solidFill>
                <a:latin typeface="Calibri" pitchFamily="34" charset="0"/>
                <a:ea typeface="Calibri" pitchFamily="34" charset="-122"/>
                <a:cs typeface="Calibri" pitchFamily="34" charset="-120"/>
              </a:rPr>
              <a:t>heat index at 98°F and 50% humidity — NWS “Danger”</a:t>
            </a:r>
            <a:endParaRPr lang="en-US" sz="1400" dirty="0"/>
          </a:p>
        </p:txBody>
      </p:sp>
      <p:sp>
        <p:nvSpPr>
          <p:cNvPr id="7" name="Shape 5"/>
          <p:cNvSpPr/>
          <p:nvPr/>
        </p:nvSpPr>
        <p:spPr>
          <a:xfrm>
            <a:off x="3355848" y="2103120"/>
            <a:ext cx="2606040" cy="2468880"/>
          </a:xfrm>
          <a:prstGeom prst="roundRect">
            <a:avLst>
              <a:gd name="adj" fmla="val 4444"/>
            </a:avLst>
          </a:prstGeom>
          <a:solidFill>
            <a:srgbClr val="151C25"/>
          </a:solidFill>
          <a:ln w="9525">
            <a:solidFill>
              <a:srgbClr val="2A3441"/>
            </a:solidFill>
            <a:prstDash val="solid"/>
          </a:ln>
        </p:spPr>
      </p:sp>
      <p:sp>
        <p:nvSpPr>
          <p:cNvPr id="8" name="Text 6"/>
          <p:cNvSpPr txBox="1"/>
          <p:nvPr/>
        </p:nvSpPr>
        <p:spPr>
          <a:xfrm>
            <a:off x="3630168" y="2377440"/>
            <a:ext cx="2194560" cy="914400"/>
          </a:xfrm>
          <a:prstGeom prst="rect">
            <a:avLst/>
          </a:prstGeom>
          <a:noFill/>
          <a:ln/>
        </p:spPr>
        <p:txBody>
          <a:bodyPr wrap="square" lIns="0" tIns="0" rIns="0" bIns="0" rtlCol="0" anchor="ctr"/>
          <a:lstStyle/>
          <a:p>
            <a:pPr indent="0" marL="0">
              <a:buNone/>
            </a:pPr>
            <a:r>
              <a:rPr lang="en-US" sz="4400" b="1" dirty="0">
                <a:solidFill>
                  <a:srgbClr val="FF8A2A"/>
                </a:solidFill>
                <a:latin typeface="Calibri" pitchFamily="34" charset="0"/>
                <a:ea typeface="Calibri" pitchFamily="34" charset="-122"/>
                <a:cs typeface="Calibri" pitchFamily="34" charset="-120"/>
              </a:rPr>
              <a:t>14°F</a:t>
            </a:r>
            <a:endParaRPr lang="en-US" sz="4400" dirty="0"/>
          </a:p>
        </p:txBody>
      </p:sp>
      <p:sp>
        <p:nvSpPr>
          <p:cNvPr id="9" name="Text 7"/>
          <p:cNvSpPr txBox="1"/>
          <p:nvPr/>
        </p:nvSpPr>
        <p:spPr>
          <a:xfrm>
            <a:off x="3630168" y="3337560"/>
            <a:ext cx="2103120" cy="1097280"/>
          </a:xfrm>
          <a:prstGeom prst="rect">
            <a:avLst/>
          </a:prstGeom>
          <a:noFill/>
          <a:ln/>
        </p:spPr>
        <p:txBody>
          <a:bodyPr wrap="square" lIns="0" tIns="0" rIns="0" bIns="0" rtlCol="0" anchor="t"/>
          <a:lstStyle/>
          <a:p>
            <a:pPr indent="0" marL="0">
              <a:buNone/>
            </a:pPr>
            <a:r>
              <a:rPr lang="en-US" sz="1400" dirty="0">
                <a:solidFill>
                  <a:srgbClr val="9AA6B4"/>
                </a:solidFill>
                <a:latin typeface="Calibri" pitchFamily="34" charset="0"/>
                <a:ea typeface="Calibri" pitchFamily="34" charset="-122"/>
                <a:cs typeface="Calibri" pitchFamily="34" charset="-120"/>
              </a:rPr>
              <a:t>measured gap between Houston’s hottest and coolest neighborhoods (H3AT 2024)</a:t>
            </a:r>
            <a:endParaRPr lang="en-US" sz="1400" dirty="0"/>
          </a:p>
        </p:txBody>
      </p:sp>
      <p:sp>
        <p:nvSpPr>
          <p:cNvPr id="10" name="Shape 8"/>
          <p:cNvSpPr/>
          <p:nvPr/>
        </p:nvSpPr>
        <p:spPr>
          <a:xfrm>
            <a:off x="6163056" y="2103120"/>
            <a:ext cx="2606040" cy="2468880"/>
          </a:xfrm>
          <a:prstGeom prst="roundRect">
            <a:avLst>
              <a:gd name="adj" fmla="val 4444"/>
            </a:avLst>
          </a:prstGeom>
          <a:solidFill>
            <a:srgbClr val="151C25"/>
          </a:solidFill>
          <a:ln w="9525">
            <a:solidFill>
              <a:srgbClr val="2A3441"/>
            </a:solidFill>
            <a:prstDash val="solid"/>
          </a:ln>
        </p:spPr>
      </p:sp>
      <p:sp>
        <p:nvSpPr>
          <p:cNvPr id="11" name="Text 9"/>
          <p:cNvSpPr txBox="1"/>
          <p:nvPr/>
        </p:nvSpPr>
        <p:spPr>
          <a:xfrm>
            <a:off x="6437376" y="2377440"/>
            <a:ext cx="2194560" cy="914400"/>
          </a:xfrm>
          <a:prstGeom prst="rect">
            <a:avLst/>
          </a:prstGeom>
          <a:noFill/>
          <a:ln/>
        </p:spPr>
        <p:txBody>
          <a:bodyPr wrap="square" lIns="0" tIns="0" rIns="0" bIns="0" rtlCol="0" anchor="ctr"/>
          <a:lstStyle/>
          <a:p>
            <a:pPr indent="0" marL="0">
              <a:buNone/>
            </a:pPr>
            <a:r>
              <a:rPr lang="en-US" sz="4400" b="1" dirty="0">
                <a:solidFill>
                  <a:srgbClr val="E8EDF2"/>
                </a:solidFill>
                <a:latin typeface="Calibri" pitchFamily="34" charset="0"/>
                <a:ea typeface="Calibri" pitchFamily="34" charset="-122"/>
                <a:cs typeface="Calibri" pitchFamily="34" charset="-120"/>
              </a:rPr>
              <a:t>68,777</a:t>
            </a:r>
            <a:endParaRPr lang="en-US" sz="4400" dirty="0"/>
          </a:p>
        </p:txBody>
      </p:sp>
      <p:sp>
        <p:nvSpPr>
          <p:cNvPr id="12" name="Text 10"/>
          <p:cNvSpPr txBox="1"/>
          <p:nvPr/>
        </p:nvSpPr>
        <p:spPr>
          <a:xfrm>
            <a:off x="6437376" y="3337560"/>
            <a:ext cx="2103120" cy="1097280"/>
          </a:xfrm>
          <a:prstGeom prst="rect">
            <a:avLst/>
          </a:prstGeom>
          <a:noFill/>
          <a:ln/>
        </p:spPr>
        <p:txBody>
          <a:bodyPr wrap="square" lIns="0" tIns="0" rIns="0" bIns="0" rtlCol="0" anchor="t"/>
          <a:lstStyle/>
          <a:p>
            <a:pPr indent="0" marL="0">
              <a:buNone/>
            </a:pPr>
            <a:r>
              <a:rPr lang="en-US" sz="1400" dirty="0">
                <a:solidFill>
                  <a:srgbClr val="9AA6B4"/>
                </a:solidFill>
                <a:latin typeface="Calibri" pitchFamily="34" charset="0"/>
                <a:ea typeface="Calibri" pitchFamily="34" charset="-122"/>
                <a:cs typeface="Calibri" pitchFamily="34" charset="-120"/>
              </a:rPr>
              <a:t>capacity of FIFA’s Houston Stadium at NRG Park</a:t>
            </a:r>
            <a:endParaRPr lang="en-US" sz="1400" dirty="0"/>
          </a:p>
        </p:txBody>
      </p:sp>
      <p:sp>
        <p:nvSpPr>
          <p:cNvPr id="13" name="Shape 11"/>
          <p:cNvSpPr/>
          <p:nvPr/>
        </p:nvSpPr>
        <p:spPr>
          <a:xfrm>
            <a:off x="8970264" y="2103120"/>
            <a:ext cx="2606040" cy="2468880"/>
          </a:xfrm>
          <a:prstGeom prst="roundRect">
            <a:avLst>
              <a:gd name="adj" fmla="val 4444"/>
            </a:avLst>
          </a:prstGeom>
          <a:solidFill>
            <a:srgbClr val="151C25"/>
          </a:solidFill>
          <a:ln w="9525">
            <a:solidFill>
              <a:srgbClr val="2A3441"/>
            </a:solidFill>
            <a:prstDash val="solid"/>
          </a:ln>
        </p:spPr>
      </p:sp>
      <p:sp>
        <p:nvSpPr>
          <p:cNvPr id="14" name="Text 12"/>
          <p:cNvSpPr txBox="1"/>
          <p:nvPr/>
        </p:nvSpPr>
        <p:spPr>
          <a:xfrm>
            <a:off x="9244584" y="2377440"/>
            <a:ext cx="2194560" cy="914400"/>
          </a:xfrm>
          <a:prstGeom prst="rect">
            <a:avLst/>
          </a:prstGeom>
          <a:noFill/>
          <a:ln/>
        </p:spPr>
        <p:txBody>
          <a:bodyPr wrap="square" lIns="0" tIns="0" rIns="0" bIns="0" rtlCol="0" anchor="ctr"/>
          <a:lstStyle/>
          <a:p>
            <a:pPr indent="0" marL="0">
              <a:buNone/>
            </a:pPr>
            <a:r>
              <a:rPr lang="en-US" sz="4400" b="1" dirty="0">
                <a:solidFill>
                  <a:srgbClr val="E8EDF2"/>
                </a:solidFill>
                <a:latin typeface="Calibri" pitchFamily="34" charset="0"/>
                <a:ea typeface="Calibri" pitchFamily="34" charset="-122"/>
                <a:cs typeface="Calibri" pitchFamily="34" charset="-120"/>
              </a:rPr>
              <a:t>431,348</a:t>
            </a:r>
            <a:endParaRPr lang="en-US" sz="4400" dirty="0"/>
          </a:p>
        </p:txBody>
      </p:sp>
      <p:sp>
        <p:nvSpPr>
          <p:cNvPr id="15" name="Text 13"/>
          <p:cNvSpPr txBox="1"/>
          <p:nvPr/>
        </p:nvSpPr>
        <p:spPr>
          <a:xfrm>
            <a:off x="9244584" y="3337560"/>
            <a:ext cx="2103120" cy="1097280"/>
          </a:xfrm>
          <a:prstGeom prst="rect">
            <a:avLst/>
          </a:prstGeom>
          <a:noFill/>
          <a:ln/>
        </p:spPr>
        <p:txBody>
          <a:bodyPr wrap="square" lIns="0" tIns="0" rIns="0" bIns="0" rtlCol="0" anchor="t"/>
          <a:lstStyle/>
          <a:p>
            <a:pPr indent="0" marL="0">
              <a:buNone/>
            </a:pPr>
            <a:r>
              <a:rPr lang="en-US" sz="1400" dirty="0">
                <a:solidFill>
                  <a:srgbClr val="9AA6B4"/>
                </a:solidFill>
                <a:latin typeface="Calibri" pitchFamily="34" charset="0"/>
                <a:ea typeface="Calibri" pitchFamily="34" charset="-122"/>
                <a:cs typeface="Calibri" pitchFamily="34" charset="-120"/>
              </a:rPr>
              <a:t>street-level heat observations in the Aug 10, 2024 H3AT campaign</a:t>
            </a:r>
            <a:endParaRPr lang="en-US" sz="1400" dirty="0"/>
          </a:p>
        </p:txBody>
      </p:sp>
      <p:sp>
        <p:nvSpPr>
          <p:cNvPr id="16" name="Text 14"/>
          <p:cNvSpPr txBox="1"/>
          <p:nvPr/>
        </p:nvSpPr>
        <p:spPr>
          <a:xfrm>
            <a:off x="548640" y="4983480"/>
            <a:ext cx="10789920" cy="914400"/>
          </a:xfrm>
          <a:prstGeom prst="rect">
            <a:avLst/>
          </a:prstGeom>
          <a:noFill/>
          <a:ln/>
        </p:spPr>
        <p:txBody>
          <a:bodyPr wrap="square" lIns="0" tIns="0" rIns="0" bIns="0" rtlCol="0" anchor="ctr"/>
          <a:lstStyle/>
          <a:p>
            <a:pPr indent="0" marL="0">
              <a:buNone/>
            </a:pPr>
            <a:r>
              <a:rPr lang="en-US" sz="1800" b="1" dirty="0">
                <a:solidFill>
                  <a:srgbClr val="E8EDF2"/>
                </a:solidFill>
                <a:latin typeface="Calibri" pitchFamily="34" charset="0"/>
                <a:ea typeface="Calibri" pitchFamily="34" charset="-122"/>
                <a:cs typeface="Calibri" pitchFamily="34" charset="-120"/>
              </a:rPr>
              <a:t>The same heat is not the same risk. </a:t>
            </a:r>
            <a:pPr indent="0" marL="0">
              <a:buNone/>
            </a:pPr>
            <a:r>
              <a:rPr lang="en-US" sz="1800" dirty="0">
                <a:solidFill>
                  <a:srgbClr val="9AA6B4"/>
                </a:solidFill>
                <a:latin typeface="Calibri" pitchFamily="34" charset="0"/>
                <a:ea typeface="Calibri" pitchFamily="34" charset="-122"/>
                <a:cs typeface="Calibri" pitchFamily="34" charset="-120"/>
              </a:rPr>
              <a:t>Danger concentrates where tens of thousands of people wait on asphalt with no shade, far from cooling — often next to neighborhoods that are already the most vulnerable.</a:t>
            </a:r>
            <a:endParaRPr lang="en-US" sz="1800" dirty="0"/>
          </a:p>
        </p:txBody>
      </p:sp>
      <p:sp>
        <p:nvSpPr>
          <p:cNvPr id="17" name="Text 15"/>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6B7788"/>
                </a:solidFill>
                <a:latin typeface="Calibri" pitchFamily="34" charset="0"/>
                <a:ea typeface="Calibri" pitchFamily="34" charset="-122"/>
                <a:cs typeface="Calibri" pitchFamily="34" charset="-120"/>
              </a:rPr>
              <a:t>Sources: NWS heat index equation; H3AT 2024 campaign results (h3at.org); FIFA stadium capacities.</a:t>
            </a:r>
            <a:endParaRPr lang="en-US" sz="1000" dirty="0"/>
          </a:p>
        </p:txBody>
      </p:sp>
      <p:sp>
        <p:nvSpPr>
          <p:cNvPr id="19" name="Text 16"/>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1000" dirty="0">
                <a:solidFill>
                  <a:srgbClr val="6B7788"/>
                </a:solidFill>
                <a:latin typeface="Calibri" pitchFamily="34" charset="0"/>
                <a:ea typeface="Calibri" pitchFamily="34" charset="-122"/>
                <a:cs typeface="Calibri" pitchFamily="34" charset="-120"/>
              </a:rPr>
              <a:t>HeatShield 26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D12"/>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200" b="1" spc="300" kern="0" dirty="0">
                <a:solidFill>
                  <a:srgbClr val="FF7A1A"/>
                </a:solidFill>
                <a:latin typeface="Calibri" pitchFamily="34" charset="0"/>
                <a:ea typeface="Calibri" pitchFamily="34" charset="-122"/>
                <a:cs typeface="Calibri" pitchFamily="34" charset="-120"/>
              </a:rPr>
              <a:t>WHY IT'S HARD TODAY</a:t>
            </a:r>
            <a:endParaRPr lang="en-US" sz="1200" dirty="0"/>
          </a:p>
        </p:txBody>
      </p:sp>
      <p:sp>
        <p:nvSpPr>
          <p:cNvPr id="3" name="Text 1"/>
          <p:cNvSpPr txBox="1"/>
          <p:nvPr/>
        </p:nvSpPr>
        <p:spPr>
          <a:xfrm>
            <a:off x="548640" y="749808"/>
            <a:ext cx="11094415" cy="914400"/>
          </a:xfrm>
          <a:prstGeom prst="rect">
            <a:avLst/>
          </a:prstGeom>
          <a:noFill/>
          <a:ln/>
        </p:spPr>
        <p:txBody>
          <a:bodyPr wrap="square" lIns="0" tIns="0" rIns="0" bIns="0" rtlCol="0" anchor="t"/>
          <a:lstStyle/>
          <a:p>
            <a:pPr indent="0" marL="0">
              <a:buNone/>
            </a:pPr>
            <a:r>
              <a:rPr lang="en-US" sz="3400" b="1" dirty="0">
                <a:solidFill>
                  <a:srgbClr val="E8EDF2"/>
                </a:solidFill>
                <a:latin typeface="Calibri" pitchFamily="34" charset="0"/>
                <a:ea typeface="Calibri" pitchFamily="34" charset="-122"/>
                <a:cs typeface="Calibri" pitchFamily="34" charset="-120"/>
              </a:rPr>
              <a:t>The data exists. It just lives in five different places.</a:t>
            </a:r>
            <a:endParaRPr lang="en-US" sz="3400" dirty="0"/>
          </a:p>
        </p:txBody>
      </p:sp>
      <p:sp>
        <p:nvSpPr>
          <p:cNvPr id="4" name="Shape 2"/>
          <p:cNvSpPr/>
          <p:nvPr/>
        </p:nvSpPr>
        <p:spPr>
          <a:xfrm>
            <a:off x="548640" y="2148840"/>
            <a:ext cx="2048256" cy="2331720"/>
          </a:xfrm>
          <a:prstGeom prst="roundRect">
            <a:avLst>
              <a:gd name="adj" fmla="val 5357"/>
            </a:avLst>
          </a:prstGeom>
          <a:solidFill>
            <a:srgbClr val="151C25"/>
          </a:solidFill>
          <a:ln w="9525">
            <a:solidFill>
              <a:srgbClr val="2A3441"/>
            </a:solidFill>
            <a:prstDash val="solid"/>
          </a:ln>
        </p:spPr>
      </p:sp>
      <p:sp>
        <p:nvSpPr>
          <p:cNvPr id="5" name="Shape 3"/>
          <p:cNvSpPr/>
          <p:nvPr/>
        </p:nvSpPr>
        <p:spPr>
          <a:xfrm>
            <a:off x="1280160" y="2423160"/>
            <a:ext cx="603504" cy="603504"/>
          </a:xfrm>
          <a:prstGeom prst="ellipse">
            <a:avLst/>
          </a:prstGeom>
          <a:solidFill>
            <a:srgbClr val="E5383B"/>
          </a:solidFill>
          <a:ln w="12700">
            <a:solidFill>
              <a:srgbClr val="E5383B"/>
            </a:solidFill>
            <a:prstDash val="solid"/>
          </a:ln>
        </p:spPr>
      </p:sp>
      <p:pic>
        <p:nvPicPr>
          <p:cNvPr id="6" name="Image 0" descr="preencoded.png">    </p:cNvPr>
          <p:cNvPicPr>
            <a:picLocks noChangeAspect="1"/>
          </p:cNvPicPr>
          <p:nvPr/>
        </p:nvPicPr>
        <p:blipFill>
          <a:blip r:embed="rId1"/>
          <a:stretch>
            <a:fillRect/>
          </a:stretch>
        </p:blipFill>
        <p:spPr>
          <a:xfrm>
            <a:off x="1437071" y="2580071"/>
            <a:ext cx="289682" cy="289682"/>
          </a:xfrm>
          <a:prstGeom prst="rect">
            <a:avLst/>
          </a:prstGeom>
        </p:spPr>
      </p:pic>
      <p:sp>
        <p:nvSpPr>
          <p:cNvPr id="7" name="Text 4"/>
          <p:cNvSpPr txBox="1"/>
          <p:nvPr/>
        </p:nvSpPr>
        <p:spPr>
          <a:xfrm>
            <a:off x="685800" y="3154680"/>
            <a:ext cx="1773936" cy="411480"/>
          </a:xfrm>
          <a:prstGeom prst="rect">
            <a:avLst/>
          </a:prstGeom>
          <a:noFill/>
          <a:ln/>
        </p:spPr>
        <p:txBody>
          <a:bodyPr wrap="square" lIns="0" tIns="0" rIns="0" bIns="0" rtlCol="0" anchor="ctr"/>
          <a:lstStyle/>
          <a:p>
            <a:pPr algn="ctr" indent="0" marL="0">
              <a:buNone/>
            </a:pPr>
            <a:r>
              <a:rPr lang="en-US" sz="2000" b="1" dirty="0">
                <a:solidFill>
                  <a:srgbClr val="E8EDF2"/>
                </a:solidFill>
                <a:latin typeface="Calibri" pitchFamily="34" charset="0"/>
                <a:ea typeface="Calibri" pitchFamily="34" charset="-122"/>
                <a:cs typeface="Calibri" pitchFamily="34" charset="-120"/>
              </a:rPr>
              <a:t>Heat</a:t>
            </a:r>
            <a:endParaRPr lang="en-US" sz="2000" dirty="0"/>
          </a:p>
        </p:txBody>
      </p:sp>
      <p:sp>
        <p:nvSpPr>
          <p:cNvPr id="8" name="Text 5"/>
          <p:cNvSpPr txBox="1"/>
          <p:nvPr/>
        </p:nvSpPr>
        <p:spPr>
          <a:xfrm>
            <a:off x="685800" y="3584448"/>
            <a:ext cx="1773936" cy="731520"/>
          </a:xfrm>
          <a:prstGeom prst="rect">
            <a:avLst/>
          </a:prstGeom>
          <a:noFill/>
          <a:ln/>
        </p:spPr>
        <p:txBody>
          <a:bodyPr wrap="square" lIns="0" tIns="0" rIns="0" bIns="0" rtlCol="0" anchor="t"/>
          <a:lstStyle/>
          <a:p>
            <a:pPr algn="ctr" indent="0" marL="0">
              <a:buNone/>
            </a:pPr>
            <a:r>
              <a:rPr lang="en-US" sz="1300" dirty="0">
                <a:solidFill>
                  <a:srgbClr val="9AA6B4"/>
                </a:solidFill>
                <a:latin typeface="Calibri" pitchFamily="34" charset="0"/>
                <a:ea typeface="Calibri" pitchFamily="34" charset="-122"/>
                <a:cs typeface="Calibri" pitchFamily="34" charset="-120"/>
              </a:rPr>
              <a:t>H3AT heat models (HARC)</a:t>
            </a:r>
            <a:endParaRPr lang="en-US" sz="1300" dirty="0"/>
          </a:p>
        </p:txBody>
      </p:sp>
      <p:sp>
        <p:nvSpPr>
          <p:cNvPr id="9" name="Shape 6"/>
          <p:cNvSpPr/>
          <p:nvPr/>
        </p:nvSpPr>
        <p:spPr>
          <a:xfrm>
            <a:off x="2798064" y="2148840"/>
            <a:ext cx="2048256" cy="2331720"/>
          </a:xfrm>
          <a:prstGeom prst="roundRect">
            <a:avLst>
              <a:gd name="adj" fmla="val 5357"/>
            </a:avLst>
          </a:prstGeom>
          <a:solidFill>
            <a:srgbClr val="151C25"/>
          </a:solidFill>
          <a:ln w="9525">
            <a:solidFill>
              <a:srgbClr val="2A3441"/>
            </a:solidFill>
            <a:prstDash val="solid"/>
          </a:ln>
        </p:spPr>
      </p:sp>
      <p:sp>
        <p:nvSpPr>
          <p:cNvPr id="10" name="Shape 7"/>
          <p:cNvSpPr/>
          <p:nvPr/>
        </p:nvSpPr>
        <p:spPr>
          <a:xfrm>
            <a:off x="3529584" y="2423160"/>
            <a:ext cx="603504" cy="603504"/>
          </a:xfrm>
          <a:prstGeom prst="ellipse">
            <a:avLst/>
          </a:prstGeom>
          <a:solidFill>
            <a:srgbClr val="A78BFA"/>
          </a:solidFill>
          <a:ln w="12700">
            <a:solidFill>
              <a:srgbClr val="A78BFA"/>
            </a:solidFill>
            <a:prstDash val="solid"/>
          </a:ln>
        </p:spPr>
      </p:sp>
      <p:pic>
        <p:nvPicPr>
          <p:cNvPr id="11" name="Image 1" descr="preencoded.png">    </p:cNvPr>
          <p:cNvPicPr>
            <a:picLocks noChangeAspect="1"/>
          </p:cNvPicPr>
          <p:nvPr/>
        </p:nvPicPr>
        <p:blipFill>
          <a:blip r:embed="rId2"/>
          <a:stretch>
            <a:fillRect/>
          </a:stretch>
        </p:blipFill>
        <p:spPr>
          <a:xfrm>
            <a:off x="3686495" y="2580071"/>
            <a:ext cx="289682" cy="289682"/>
          </a:xfrm>
          <a:prstGeom prst="rect">
            <a:avLst/>
          </a:prstGeom>
        </p:spPr>
      </p:pic>
      <p:sp>
        <p:nvSpPr>
          <p:cNvPr id="12" name="Text 8"/>
          <p:cNvSpPr txBox="1"/>
          <p:nvPr/>
        </p:nvSpPr>
        <p:spPr>
          <a:xfrm>
            <a:off x="2935224" y="3154680"/>
            <a:ext cx="1773936" cy="411480"/>
          </a:xfrm>
          <a:prstGeom prst="rect">
            <a:avLst/>
          </a:prstGeom>
          <a:noFill/>
          <a:ln/>
        </p:spPr>
        <p:txBody>
          <a:bodyPr wrap="square" lIns="0" tIns="0" rIns="0" bIns="0" rtlCol="0" anchor="ctr"/>
          <a:lstStyle/>
          <a:p>
            <a:pPr algn="ctr" indent="0" marL="0">
              <a:buNone/>
            </a:pPr>
            <a:r>
              <a:rPr lang="en-US" sz="2000" b="1" dirty="0">
                <a:solidFill>
                  <a:srgbClr val="E8EDF2"/>
                </a:solidFill>
                <a:latin typeface="Calibri" pitchFamily="34" charset="0"/>
                <a:ea typeface="Calibri" pitchFamily="34" charset="-122"/>
                <a:cs typeface="Calibri" pitchFamily="34" charset="-120"/>
              </a:rPr>
              <a:t>Crowds</a:t>
            </a:r>
            <a:endParaRPr lang="en-US" sz="2000" dirty="0"/>
          </a:p>
        </p:txBody>
      </p:sp>
      <p:sp>
        <p:nvSpPr>
          <p:cNvPr id="13" name="Text 9"/>
          <p:cNvSpPr txBox="1"/>
          <p:nvPr/>
        </p:nvSpPr>
        <p:spPr>
          <a:xfrm>
            <a:off x="2935224" y="3584448"/>
            <a:ext cx="1773936" cy="731520"/>
          </a:xfrm>
          <a:prstGeom prst="rect">
            <a:avLst/>
          </a:prstGeom>
          <a:noFill/>
          <a:ln/>
        </p:spPr>
        <p:txBody>
          <a:bodyPr wrap="square" lIns="0" tIns="0" rIns="0" bIns="0" rtlCol="0" anchor="t"/>
          <a:lstStyle/>
          <a:p>
            <a:pPr algn="ctr" indent="0" marL="0">
              <a:buNone/>
            </a:pPr>
            <a:r>
              <a:rPr lang="en-US" sz="1300" dirty="0">
                <a:solidFill>
                  <a:srgbClr val="9AA6B4"/>
                </a:solidFill>
                <a:latin typeface="Calibri" pitchFamily="34" charset="0"/>
                <a:ea typeface="Calibri" pitchFamily="34" charset="-122"/>
                <a:cs typeface="Calibri" pitchFamily="34" charset="-120"/>
              </a:rPr>
              <a:t>METRORail stations, NRG lots</a:t>
            </a:r>
            <a:endParaRPr lang="en-US" sz="1300" dirty="0"/>
          </a:p>
        </p:txBody>
      </p:sp>
      <p:sp>
        <p:nvSpPr>
          <p:cNvPr id="14" name="Shape 10"/>
          <p:cNvSpPr/>
          <p:nvPr/>
        </p:nvSpPr>
        <p:spPr>
          <a:xfrm>
            <a:off x="5047488" y="2148840"/>
            <a:ext cx="2048256" cy="2331720"/>
          </a:xfrm>
          <a:prstGeom prst="roundRect">
            <a:avLst>
              <a:gd name="adj" fmla="val 5357"/>
            </a:avLst>
          </a:prstGeom>
          <a:solidFill>
            <a:srgbClr val="151C25"/>
          </a:solidFill>
          <a:ln w="9525">
            <a:solidFill>
              <a:srgbClr val="2A3441"/>
            </a:solidFill>
            <a:prstDash val="solid"/>
          </a:ln>
        </p:spPr>
      </p:sp>
      <p:sp>
        <p:nvSpPr>
          <p:cNvPr id="15" name="Shape 11"/>
          <p:cNvSpPr/>
          <p:nvPr/>
        </p:nvSpPr>
        <p:spPr>
          <a:xfrm>
            <a:off x="5779008" y="2423160"/>
            <a:ext cx="603504" cy="603504"/>
          </a:xfrm>
          <a:prstGeom prst="ellipse">
            <a:avLst/>
          </a:prstGeom>
          <a:solidFill>
            <a:srgbClr val="14B8A6"/>
          </a:solidFill>
          <a:ln w="12700">
            <a:solidFill>
              <a:srgbClr val="14B8A6"/>
            </a:solidFill>
            <a:prstDash val="solid"/>
          </a:ln>
        </p:spPr>
      </p:sp>
      <p:pic>
        <p:nvPicPr>
          <p:cNvPr id="16" name="Image 2" descr="preencoded.png">    </p:cNvPr>
          <p:cNvPicPr>
            <a:picLocks noChangeAspect="1"/>
          </p:cNvPicPr>
          <p:nvPr/>
        </p:nvPicPr>
        <p:blipFill>
          <a:blip r:embed="rId3"/>
          <a:stretch>
            <a:fillRect/>
          </a:stretch>
        </p:blipFill>
        <p:spPr>
          <a:xfrm>
            <a:off x="5935919" y="2580071"/>
            <a:ext cx="289682" cy="289682"/>
          </a:xfrm>
          <a:prstGeom prst="rect">
            <a:avLst/>
          </a:prstGeom>
        </p:spPr>
      </p:pic>
      <p:sp>
        <p:nvSpPr>
          <p:cNvPr id="17" name="Text 12"/>
          <p:cNvSpPr txBox="1"/>
          <p:nvPr/>
        </p:nvSpPr>
        <p:spPr>
          <a:xfrm>
            <a:off x="5184648" y="3154680"/>
            <a:ext cx="1773936" cy="411480"/>
          </a:xfrm>
          <a:prstGeom prst="rect">
            <a:avLst/>
          </a:prstGeom>
          <a:noFill/>
          <a:ln/>
        </p:spPr>
        <p:txBody>
          <a:bodyPr wrap="square" lIns="0" tIns="0" rIns="0" bIns="0" rtlCol="0" anchor="ctr"/>
          <a:lstStyle/>
          <a:p>
            <a:pPr algn="ctr" indent="0" marL="0">
              <a:buNone/>
            </a:pPr>
            <a:r>
              <a:rPr lang="en-US" sz="2000" b="1" dirty="0">
                <a:solidFill>
                  <a:srgbClr val="E8EDF2"/>
                </a:solidFill>
                <a:latin typeface="Calibri" pitchFamily="34" charset="0"/>
                <a:ea typeface="Calibri" pitchFamily="34" charset="-122"/>
                <a:cs typeface="Calibri" pitchFamily="34" charset="-120"/>
              </a:rPr>
              <a:t>Health</a:t>
            </a:r>
            <a:endParaRPr lang="en-US" sz="2000" dirty="0"/>
          </a:p>
        </p:txBody>
      </p:sp>
      <p:sp>
        <p:nvSpPr>
          <p:cNvPr id="18" name="Text 13"/>
          <p:cNvSpPr txBox="1"/>
          <p:nvPr/>
        </p:nvSpPr>
        <p:spPr>
          <a:xfrm>
            <a:off x="5184648" y="3584448"/>
            <a:ext cx="1773936" cy="731520"/>
          </a:xfrm>
          <a:prstGeom prst="rect">
            <a:avLst/>
          </a:prstGeom>
          <a:noFill/>
          <a:ln/>
        </p:spPr>
        <p:txBody>
          <a:bodyPr wrap="square" lIns="0" tIns="0" rIns="0" bIns="0" rtlCol="0" anchor="t"/>
          <a:lstStyle/>
          <a:p>
            <a:pPr algn="ctr" indent="0" marL="0">
              <a:buNone/>
            </a:pPr>
            <a:r>
              <a:rPr lang="en-US" sz="1300" dirty="0">
                <a:solidFill>
                  <a:srgbClr val="9AA6B4"/>
                </a:solidFill>
                <a:latin typeface="Calibri" pitchFamily="34" charset="0"/>
                <a:ea typeface="Calibri" pitchFamily="34" charset="-122"/>
                <a:cs typeface="Calibri" pitchFamily="34" charset="-120"/>
              </a:rPr>
              <a:t>CDC SVI + CDC PLACES</a:t>
            </a:r>
            <a:endParaRPr lang="en-US" sz="1300" dirty="0"/>
          </a:p>
        </p:txBody>
      </p:sp>
      <p:sp>
        <p:nvSpPr>
          <p:cNvPr id="19" name="Shape 14"/>
          <p:cNvSpPr/>
          <p:nvPr/>
        </p:nvSpPr>
        <p:spPr>
          <a:xfrm>
            <a:off x="7296912" y="2148840"/>
            <a:ext cx="2048256" cy="2331720"/>
          </a:xfrm>
          <a:prstGeom prst="roundRect">
            <a:avLst>
              <a:gd name="adj" fmla="val 5357"/>
            </a:avLst>
          </a:prstGeom>
          <a:solidFill>
            <a:srgbClr val="151C25"/>
          </a:solidFill>
          <a:ln w="9525">
            <a:solidFill>
              <a:srgbClr val="2A3441"/>
            </a:solidFill>
            <a:prstDash val="solid"/>
          </a:ln>
        </p:spPr>
      </p:sp>
      <p:sp>
        <p:nvSpPr>
          <p:cNvPr id="20" name="Shape 15"/>
          <p:cNvSpPr/>
          <p:nvPr/>
        </p:nvSpPr>
        <p:spPr>
          <a:xfrm>
            <a:off x="8028432" y="2423160"/>
            <a:ext cx="603504" cy="603504"/>
          </a:xfrm>
          <a:prstGeom prst="ellipse">
            <a:avLst/>
          </a:prstGeom>
          <a:solidFill>
            <a:srgbClr val="2FBF71"/>
          </a:solidFill>
          <a:ln w="12700">
            <a:solidFill>
              <a:srgbClr val="2FBF71"/>
            </a:solidFill>
            <a:prstDash val="solid"/>
          </a:ln>
        </p:spPr>
      </p:sp>
      <p:pic>
        <p:nvPicPr>
          <p:cNvPr id="21" name="Image 3" descr="preencoded.png">    </p:cNvPr>
          <p:cNvPicPr>
            <a:picLocks noChangeAspect="1"/>
          </p:cNvPicPr>
          <p:nvPr/>
        </p:nvPicPr>
        <p:blipFill>
          <a:blip r:embed="rId4"/>
          <a:stretch>
            <a:fillRect/>
          </a:stretch>
        </p:blipFill>
        <p:spPr>
          <a:xfrm>
            <a:off x="8185343" y="2580071"/>
            <a:ext cx="289682" cy="289682"/>
          </a:xfrm>
          <a:prstGeom prst="rect">
            <a:avLst/>
          </a:prstGeom>
        </p:spPr>
      </p:pic>
      <p:sp>
        <p:nvSpPr>
          <p:cNvPr id="22" name="Text 16"/>
          <p:cNvSpPr txBox="1"/>
          <p:nvPr/>
        </p:nvSpPr>
        <p:spPr>
          <a:xfrm>
            <a:off x="7434072" y="3154680"/>
            <a:ext cx="1773936" cy="411480"/>
          </a:xfrm>
          <a:prstGeom prst="rect">
            <a:avLst/>
          </a:prstGeom>
          <a:noFill/>
          <a:ln/>
        </p:spPr>
        <p:txBody>
          <a:bodyPr wrap="square" lIns="0" tIns="0" rIns="0" bIns="0" rtlCol="0" anchor="ctr"/>
          <a:lstStyle/>
          <a:p>
            <a:pPr algn="ctr" indent="0" marL="0">
              <a:buNone/>
            </a:pPr>
            <a:r>
              <a:rPr lang="en-US" sz="2000" b="1" dirty="0">
                <a:solidFill>
                  <a:srgbClr val="E8EDF2"/>
                </a:solidFill>
                <a:latin typeface="Calibri" pitchFamily="34" charset="0"/>
                <a:ea typeface="Calibri" pitchFamily="34" charset="-122"/>
                <a:cs typeface="Calibri" pitchFamily="34" charset="-120"/>
              </a:rPr>
              <a:t>Shade</a:t>
            </a:r>
            <a:endParaRPr lang="en-US" sz="2000" dirty="0"/>
          </a:p>
        </p:txBody>
      </p:sp>
      <p:sp>
        <p:nvSpPr>
          <p:cNvPr id="23" name="Text 17"/>
          <p:cNvSpPr txBox="1"/>
          <p:nvPr/>
        </p:nvSpPr>
        <p:spPr>
          <a:xfrm>
            <a:off x="7434072" y="3584448"/>
            <a:ext cx="1773936" cy="731520"/>
          </a:xfrm>
          <a:prstGeom prst="rect">
            <a:avLst/>
          </a:prstGeom>
          <a:noFill/>
          <a:ln/>
        </p:spPr>
        <p:txBody>
          <a:bodyPr wrap="square" lIns="0" tIns="0" rIns="0" bIns="0" rtlCol="0" anchor="t"/>
          <a:lstStyle/>
          <a:p>
            <a:pPr algn="ctr" indent="0" marL="0">
              <a:buNone/>
            </a:pPr>
            <a:r>
              <a:rPr lang="en-US" sz="1300" dirty="0">
                <a:solidFill>
                  <a:srgbClr val="9AA6B4"/>
                </a:solidFill>
                <a:latin typeface="Calibri" pitchFamily="34" charset="0"/>
                <a:ea typeface="Calibri" pitchFamily="34" charset="-122"/>
                <a:cs typeface="Calibri" pitchFamily="34" charset="-120"/>
              </a:rPr>
              <a:t>USFS tree canopy</a:t>
            </a:r>
            <a:endParaRPr lang="en-US" sz="1300" dirty="0"/>
          </a:p>
        </p:txBody>
      </p:sp>
      <p:sp>
        <p:nvSpPr>
          <p:cNvPr id="24" name="Shape 18"/>
          <p:cNvSpPr/>
          <p:nvPr/>
        </p:nvSpPr>
        <p:spPr>
          <a:xfrm>
            <a:off x="9546336" y="2148840"/>
            <a:ext cx="2048256" cy="2331720"/>
          </a:xfrm>
          <a:prstGeom prst="roundRect">
            <a:avLst>
              <a:gd name="adj" fmla="val 5357"/>
            </a:avLst>
          </a:prstGeom>
          <a:solidFill>
            <a:srgbClr val="151C25"/>
          </a:solidFill>
          <a:ln w="9525">
            <a:solidFill>
              <a:srgbClr val="2A3441"/>
            </a:solidFill>
            <a:prstDash val="solid"/>
          </a:ln>
        </p:spPr>
      </p:sp>
      <p:sp>
        <p:nvSpPr>
          <p:cNvPr id="25" name="Shape 19"/>
          <p:cNvSpPr/>
          <p:nvPr/>
        </p:nvSpPr>
        <p:spPr>
          <a:xfrm>
            <a:off x="10277856" y="2423160"/>
            <a:ext cx="603504" cy="603504"/>
          </a:xfrm>
          <a:prstGeom prst="ellipse">
            <a:avLst/>
          </a:prstGeom>
          <a:solidFill>
            <a:srgbClr val="38BDF8"/>
          </a:solidFill>
          <a:ln w="12700">
            <a:solidFill>
              <a:srgbClr val="38BDF8"/>
            </a:solidFill>
            <a:prstDash val="solid"/>
          </a:ln>
        </p:spPr>
      </p:sp>
      <p:pic>
        <p:nvPicPr>
          <p:cNvPr id="26" name="Image 4" descr="preencoded.png">    </p:cNvPr>
          <p:cNvPicPr>
            <a:picLocks noChangeAspect="1"/>
          </p:cNvPicPr>
          <p:nvPr/>
        </p:nvPicPr>
        <p:blipFill>
          <a:blip r:embed="rId5"/>
          <a:stretch>
            <a:fillRect/>
          </a:stretch>
        </p:blipFill>
        <p:spPr>
          <a:xfrm>
            <a:off x="10434767" y="2580071"/>
            <a:ext cx="289682" cy="289682"/>
          </a:xfrm>
          <a:prstGeom prst="rect">
            <a:avLst/>
          </a:prstGeom>
        </p:spPr>
      </p:pic>
      <p:sp>
        <p:nvSpPr>
          <p:cNvPr id="27" name="Text 20"/>
          <p:cNvSpPr txBox="1"/>
          <p:nvPr/>
        </p:nvSpPr>
        <p:spPr>
          <a:xfrm>
            <a:off x="9683496" y="3154680"/>
            <a:ext cx="1773936" cy="411480"/>
          </a:xfrm>
          <a:prstGeom prst="rect">
            <a:avLst/>
          </a:prstGeom>
          <a:noFill/>
          <a:ln/>
        </p:spPr>
        <p:txBody>
          <a:bodyPr wrap="square" lIns="0" tIns="0" rIns="0" bIns="0" rtlCol="0" anchor="ctr"/>
          <a:lstStyle/>
          <a:p>
            <a:pPr algn="ctr" indent="0" marL="0">
              <a:buNone/>
            </a:pPr>
            <a:r>
              <a:rPr lang="en-US" sz="2000" b="1" dirty="0">
                <a:solidFill>
                  <a:srgbClr val="E8EDF2"/>
                </a:solidFill>
                <a:latin typeface="Calibri" pitchFamily="34" charset="0"/>
                <a:ea typeface="Calibri" pitchFamily="34" charset="-122"/>
                <a:cs typeface="Calibri" pitchFamily="34" charset="-120"/>
              </a:rPr>
              <a:t>Cooling</a:t>
            </a:r>
            <a:endParaRPr lang="en-US" sz="2000" dirty="0"/>
          </a:p>
        </p:txBody>
      </p:sp>
      <p:sp>
        <p:nvSpPr>
          <p:cNvPr id="28" name="Text 21"/>
          <p:cNvSpPr txBox="1"/>
          <p:nvPr/>
        </p:nvSpPr>
        <p:spPr>
          <a:xfrm>
            <a:off x="9683496" y="3584448"/>
            <a:ext cx="1773936" cy="731520"/>
          </a:xfrm>
          <a:prstGeom prst="rect">
            <a:avLst/>
          </a:prstGeom>
          <a:noFill/>
          <a:ln/>
        </p:spPr>
        <p:txBody>
          <a:bodyPr wrap="square" lIns="0" tIns="0" rIns="0" bIns="0" rtlCol="0" anchor="t"/>
          <a:lstStyle/>
          <a:p>
            <a:pPr algn="ctr" indent="0" marL="0">
              <a:buNone/>
            </a:pPr>
            <a:r>
              <a:rPr lang="en-US" sz="1300" dirty="0">
                <a:solidFill>
                  <a:srgbClr val="9AA6B4"/>
                </a:solidFill>
                <a:latin typeface="Calibri" pitchFamily="34" charset="0"/>
                <a:ea typeface="Calibri" pitchFamily="34" charset="-122"/>
                <a:cs typeface="Calibri" pitchFamily="34" charset="-120"/>
              </a:rPr>
              <a:t>City of Houston cool centers</a:t>
            </a:r>
            <a:endParaRPr lang="en-US" sz="1300" dirty="0"/>
          </a:p>
        </p:txBody>
      </p:sp>
      <p:sp>
        <p:nvSpPr>
          <p:cNvPr id="29" name="Shape 22"/>
          <p:cNvSpPr/>
          <p:nvPr/>
        </p:nvSpPr>
        <p:spPr>
          <a:xfrm>
            <a:off x="548640" y="4846320"/>
            <a:ext cx="11094415" cy="1097280"/>
          </a:xfrm>
          <a:prstGeom prst="roundRect">
            <a:avLst>
              <a:gd name="adj" fmla="val 10000"/>
            </a:avLst>
          </a:prstGeom>
          <a:solidFill>
            <a:srgbClr val="1E1712"/>
          </a:solidFill>
          <a:ln w="9525">
            <a:solidFill>
              <a:srgbClr val="2A3441"/>
            </a:solidFill>
            <a:prstDash val="solid"/>
          </a:ln>
        </p:spPr>
      </p:sp>
      <p:sp>
        <p:nvSpPr>
          <p:cNvPr id="30" name="Text 23"/>
          <p:cNvSpPr txBox="1"/>
          <p:nvPr/>
        </p:nvSpPr>
        <p:spPr>
          <a:xfrm>
            <a:off x="868680" y="4846320"/>
            <a:ext cx="10454335" cy="1097280"/>
          </a:xfrm>
          <a:prstGeom prst="rect">
            <a:avLst/>
          </a:prstGeom>
          <a:noFill/>
          <a:ln/>
        </p:spPr>
        <p:txBody>
          <a:bodyPr wrap="square" lIns="0" tIns="0" rIns="0" bIns="0" rtlCol="0" anchor="ctr"/>
          <a:lstStyle/>
          <a:p>
            <a:pPr indent="0" marL="0">
              <a:buNone/>
            </a:pPr>
            <a:r>
              <a:rPr lang="en-US" sz="1900" dirty="0">
                <a:solidFill>
                  <a:srgbClr val="9AA6B4"/>
                </a:solidFill>
                <a:latin typeface="Calibri" pitchFamily="34" charset="0"/>
                <a:ea typeface="Calibri" pitchFamily="34" charset="-122"/>
                <a:cs typeface="Calibri" pitchFamily="34" charset="-120"/>
              </a:rPr>
              <a:t>Planners can see each layer — </a:t>
            </a:r>
            <a:pPr indent="0" marL="0">
              <a:buNone/>
            </a:pPr>
            <a:r>
              <a:rPr lang="en-US" sz="1900" b="1" dirty="0">
                <a:solidFill>
                  <a:srgbClr val="E8EDF2"/>
                </a:solidFill>
                <a:latin typeface="Calibri" pitchFamily="34" charset="0"/>
                <a:ea typeface="Calibri" pitchFamily="34" charset="-122"/>
                <a:cs typeface="Calibri" pitchFamily="34" charset="-120"/>
              </a:rPr>
              <a:t>but nobody can answer “where is it dangerous for this event, and what do we fund first?”</a:t>
            </a:r>
            <a:endParaRPr lang="en-US" sz="1900" dirty="0"/>
          </a:p>
        </p:txBody>
      </p:sp>
      <p:sp>
        <p:nvSpPr>
          <p:cNvPr id="32" name="Text 24"/>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1000" dirty="0">
                <a:solidFill>
                  <a:srgbClr val="6B7788"/>
                </a:solidFill>
                <a:latin typeface="Calibri" pitchFamily="34" charset="0"/>
                <a:ea typeface="Calibri" pitchFamily="34" charset="-122"/>
                <a:cs typeface="Calibri" pitchFamily="34" charset="-120"/>
              </a:rPr>
              <a:t>HeatShield 26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D12"/>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200" b="1" spc="300" kern="0" dirty="0">
                <a:solidFill>
                  <a:srgbClr val="FF7A1A"/>
                </a:solidFill>
                <a:latin typeface="Calibri" pitchFamily="34" charset="0"/>
                <a:ea typeface="Calibri" pitchFamily="34" charset="-122"/>
                <a:cs typeface="Calibri" pitchFamily="34" charset="-120"/>
              </a:rPr>
              <a:t>THE SOLUTION</a:t>
            </a:r>
            <a:endParaRPr lang="en-US" sz="1200" dirty="0"/>
          </a:p>
        </p:txBody>
      </p:sp>
      <p:sp>
        <p:nvSpPr>
          <p:cNvPr id="3" name="Text 1"/>
          <p:cNvSpPr txBox="1"/>
          <p:nvPr/>
        </p:nvSpPr>
        <p:spPr>
          <a:xfrm>
            <a:off x="548640" y="749808"/>
            <a:ext cx="11094415" cy="914400"/>
          </a:xfrm>
          <a:prstGeom prst="rect">
            <a:avLst/>
          </a:prstGeom>
          <a:noFill/>
          <a:ln/>
        </p:spPr>
        <p:txBody>
          <a:bodyPr wrap="square" lIns="0" tIns="0" rIns="0" bIns="0" rtlCol="0" anchor="t"/>
          <a:lstStyle/>
          <a:p>
            <a:pPr indent="0" marL="0">
              <a:buNone/>
            </a:pPr>
            <a:r>
              <a:rPr lang="en-US" sz="3400" b="1" dirty="0">
                <a:solidFill>
                  <a:srgbClr val="E8EDF2"/>
                </a:solidFill>
                <a:latin typeface="Calibri" pitchFamily="34" charset="0"/>
                <a:ea typeface="Calibri" pitchFamily="34" charset="-122"/>
                <a:cs typeface="Calibri" pitchFamily="34" charset="-120"/>
              </a:rPr>
              <a:t>HeatShield 26 turns five silos into one decision</a:t>
            </a:r>
            <a:endParaRPr lang="en-US" sz="3400" dirty="0"/>
          </a:p>
        </p:txBody>
      </p:sp>
      <p:sp>
        <p:nvSpPr>
          <p:cNvPr id="4" name="Shape 2"/>
          <p:cNvSpPr/>
          <p:nvPr/>
        </p:nvSpPr>
        <p:spPr>
          <a:xfrm>
            <a:off x="548640" y="2148840"/>
            <a:ext cx="2606040" cy="3200400"/>
          </a:xfrm>
          <a:prstGeom prst="roundRect">
            <a:avLst>
              <a:gd name="adj" fmla="val 4211"/>
            </a:avLst>
          </a:prstGeom>
          <a:solidFill>
            <a:srgbClr val="151C25"/>
          </a:solidFill>
          <a:ln w="9525">
            <a:solidFill>
              <a:srgbClr val="2A3441"/>
            </a:solidFill>
            <a:prstDash val="solid"/>
          </a:ln>
        </p:spPr>
      </p:sp>
      <p:sp>
        <p:nvSpPr>
          <p:cNvPr id="5" name="Shape 3"/>
          <p:cNvSpPr/>
          <p:nvPr/>
        </p:nvSpPr>
        <p:spPr>
          <a:xfrm>
            <a:off x="822960" y="2423160"/>
            <a:ext cx="603504" cy="603504"/>
          </a:xfrm>
          <a:prstGeom prst="ellipse">
            <a:avLst/>
          </a:prstGeom>
          <a:solidFill>
            <a:srgbClr val="FF7A1A"/>
          </a:solidFill>
          <a:ln w="12700">
            <a:solidFill>
              <a:srgbClr val="FF7A1A"/>
            </a:solidFill>
            <a:prstDash val="solid"/>
          </a:ln>
        </p:spPr>
      </p:sp>
      <p:pic>
        <p:nvPicPr>
          <p:cNvPr id="6" name="Image 0" descr="preencoded.png">    </p:cNvPr>
          <p:cNvPicPr>
            <a:picLocks noChangeAspect="1"/>
          </p:cNvPicPr>
          <p:nvPr/>
        </p:nvPicPr>
        <p:blipFill>
          <a:blip r:embed="rId1"/>
          <a:stretch>
            <a:fillRect/>
          </a:stretch>
        </p:blipFill>
        <p:spPr>
          <a:xfrm>
            <a:off x="979871" y="2580071"/>
            <a:ext cx="289682" cy="289682"/>
          </a:xfrm>
          <a:prstGeom prst="rect">
            <a:avLst/>
          </a:prstGeom>
        </p:spPr>
      </p:pic>
      <p:sp>
        <p:nvSpPr>
          <p:cNvPr id="7" name="Text 4"/>
          <p:cNvSpPr txBox="1"/>
          <p:nvPr/>
        </p:nvSpPr>
        <p:spPr>
          <a:xfrm>
            <a:off x="2377440" y="2468880"/>
            <a:ext cx="548640" cy="365760"/>
          </a:xfrm>
          <a:prstGeom prst="rect">
            <a:avLst/>
          </a:prstGeom>
          <a:noFill/>
          <a:ln/>
        </p:spPr>
        <p:txBody>
          <a:bodyPr wrap="square" lIns="0" tIns="0" rIns="0" bIns="0" rtlCol="0" anchor="ctr"/>
          <a:lstStyle/>
          <a:p>
            <a:pPr algn="r" indent="0" marL="0">
              <a:buNone/>
            </a:pPr>
            <a:r>
              <a:rPr lang="en-US" sz="1400" b="1" dirty="0">
                <a:solidFill>
                  <a:srgbClr val="6B7788"/>
                </a:solidFill>
                <a:latin typeface="Calibri" pitchFamily="34" charset="0"/>
                <a:ea typeface="Calibri" pitchFamily="34" charset="-122"/>
                <a:cs typeface="Calibri" pitchFamily="34" charset="-120"/>
              </a:rPr>
              <a:t>01</a:t>
            </a:r>
            <a:endParaRPr lang="en-US" sz="1400" dirty="0"/>
          </a:p>
        </p:txBody>
      </p:sp>
      <p:sp>
        <p:nvSpPr>
          <p:cNvPr id="8" name="Text 5"/>
          <p:cNvSpPr txBox="1"/>
          <p:nvPr/>
        </p:nvSpPr>
        <p:spPr>
          <a:xfrm>
            <a:off x="822960" y="3246120"/>
            <a:ext cx="2194560" cy="457200"/>
          </a:xfrm>
          <a:prstGeom prst="rect">
            <a:avLst/>
          </a:prstGeom>
          <a:noFill/>
          <a:ln/>
        </p:spPr>
        <p:txBody>
          <a:bodyPr wrap="square" lIns="0" tIns="0" rIns="0" bIns="0" rtlCol="0" anchor="ctr"/>
          <a:lstStyle/>
          <a:p>
            <a:pPr indent="0" marL="0">
              <a:buNone/>
            </a:pPr>
            <a:r>
              <a:rPr lang="en-US" sz="2200" b="1" dirty="0">
                <a:solidFill>
                  <a:srgbClr val="E8EDF2"/>
                </a:solidFill>
                <a:latin typeface="Calibri" pitchFamily="34" charset="0"/>
                <a:ea typeface="Calibri" pitchFamily="34" charset="-122"/>
                <a:cs typeface="Calibri" pitchFamily="34" charset="-120"/>
              </a:rPr>
              <a:t>Measure</a:t>
            </a:r>
            <a:endParaRPr lang="en-US" sz="2200" dirty="0"/>
          </a:p>
        </p:txBody>
      </p:sp>
      <p:sp>
        <p:nvSpPr>
          <p:cNvPr id="9" name="Text 6"/>
          <p:cNvSpPr txBox="1"/>
          <p:nvPr/>
        </p:nvSpPr>
        <p:spPr>
          <a:xfrm>
            <a:off x="822960" y="3749040"/>
            <a:ext cx="2148840" cy="1463040"/>
          </a:xfrm>
          <a:prstGeom prst="rect">
            <a:avLst/>
          </a:prstGeom>
          <a:noFill/>
          <a:ln/>
        </p:spPr>
        <p:txBody>
          <a:bodyPr wrap="square" lIns="0" tIns="0" rIns="0" bIns="0" rtlCol="0" anchor="t"/>
          <a:lstStyle/>
          <a:p>
            <a:pPr indent="0" marL="0">
              <a:buNone/>
            </a:pPr>
            <a:r>
              <a:rPr lang="en-US" sz="1400" dirty="0">
                <a:solidFill>
                  <a:srgbClr val="9AA6B4"/>
                </a:solidFill>
                <a:latin typeface="Calibri" pitchFamily="34" charset="0"/>
                <a:ea typeface="Calibri" pitchFamily="34" charset="-122"/>
                <a:cs typeface="Calibri" pitchFamily="34" charset="-120"/>
              </a:rPr>
              <a:t>11 open datasets joined onto 1,419 hex cells around NRG, Midtown and Downtown</a:t>
            </a:r>
            <a:endParaRPr lang="en-US" sz="1400" dirty="0"/>
          </a:p>
        </p:txBody>
      </p:sp>
      <p:sp>
        <p:nvSpPr>
          <p:cNvPr id="10" name="Text 7"/>
          <p:cNvSpPr txBox="1"/>
          <p:nvPr/>
        </p:nvSpPr>
        <p:spPr>
          <a:xfrm>
            <a:off x="3154680" y="3291840"/>
            <a:ext cx="201168" cy="548640"/>
          </a:xfrm>
          <a:prstGeom prst="rect">
            <a:avLst/>
          </a:prstGeom>
          <a:noFill/>
          <a:ln/>
        </p:spPr>
        <p:txBody>
          <a:bodyPr wrap="square" lIns="0" tIns="0" rIns="0" bIns="0" rtlCol="0" anchor="ctr"/>
          <a:lstStyle/>
          <a:p>
            <a:pPr algn="ctr" indent="0" marL="0">
              <a:buNone/>
            </a:pPr>
            <a:r>
              <a:rPr lang="en-US" sz="3000" b="1" dirty="0">
                <a:solidFill>
                  <a:srgbClr val="FF7A1A"/>
                </a:solidFill>
                <a:latin typeface="Calibri" pitchFamily="34" charset="0"/>
                <a:ea typeface="Calibri" pitchFamily="34" charset="-122"/>
                <a:cs typeface="Calibri" pitchFamily="34" charset="-120"/>
              </a:rPr>
              <a:t>›</a:t>
            </a:r>
            <a:endParaRPr lang="en-US" sz="3000" dirty="0"/>
          </a:p>
        </p:txBody>
      </p:sp>
      <p:sp>
        <p:nvSpPr>
          <p:cNvPr id="11" name="Shape 8"/>
          <p:cNvSpPr/>
          <p:nvPr/>
        </p:nvSpPr>
        <p:spPr>
          <a:xfrm>
            <a:off x="3355848" y="2148840"/>
            <a:ext cx="2606040" cy="3200400"/>
          </a:xfrm>
          <a:prstGeom prst="roundRect">
            <a:avLst>
              <a:gd name="adj" fmla="val 4211"/>
            </a:avLst>
          </a:prstGeom>
          <a:solidFill>
            <a:srgbClr val="151C25"/>
          </a:solidFill>
          <a:ln w="9525">
            <a:solidFill>
              <a:srgbClr val="2A3441"/>
            </a:solidFill>
            <a:prstDash val="solid"/>
          </a:ln>
        </p:spPr>
      </p:sp>
      <p:sp>
        <p:nvSpPr>
          <p:cNvPr id="12" name="Shape 9"/>
          <p:cNvSpPr/>
          <p:nvPr/>
        </p:nvSpPr>
        <p:spPr>
          <a:xfrm>
            <a:off x="3630168" y="2423160"/>
            <a:ext cx="603504" cy="603504"/>
          </a:xfrm>
          <a:prstGeom prst="ellipse">
            <a:avLst/>
          </a:prstGeom>
          <a:solidFill>
            <a:srgbClr val="FF7A1A"/>
          </a:solidFill>
          <a:ln w="12700">
            <a:solidFill>
              <a:srgbClr val="FF7A1A"/>
            </a:solidFill>
            <a:prstDash val="solid"/>
          </a:ln>
        </p:spPr>
      </p:sp>
      <p:pic>
        <p:nvPicPr>
          <p:cNvPr id="13" name="Image 1" descr="preencoded.png">    </p:cNvPr>
          <p:cNvPicPr>
            <a:picLocks noChangeAspect="1"/>
          </p:cNvPicPr>
          <p:nvPr/>
        </p:nvPicPr>
        <p:blipFill>
          <a:blip r:embed="rId2"/>
          <a:stretch>
            <a:fillRect/>
          </a:stretch>
        </p:blipFill>
        <p:spPr>
          <a:xfrm>
            <a:off x="3787079" y="2580071"/>
            <a:ext cx="289682" cy="289682"/>
          </a:xfrm>
          <a:prstGeom prst="rect">
            <a:avLst/>
          </a:prstGeom>
        </p:spPr>
      </p:pic>
      <p:sp>
        <p:nvSpPr>
          <p:cNvPr id="14" name="Text 10"/>
          <p:cNvSpPr txBox="1"/>
          <p:nvPr/>
        </p:nvSpPr>
        <p:spPr>
          <a:xfrm>
            <a:off x="5184648" y="2468880"/>
            <a:ext cx="548640" cy="365760"/>
          </a:xfrm>
          <a:prstGeom prst="rect">
            <a:avLst/>
          </a:prstGeom>
          <a:noFill/>
          <a:ln/>
        </p:spPr>
        <p:txBody>
          <a:bodyPr wrap="square" lIns="0" tIns="0" rIns="0" bIns="0" rtlCol="0" anchor="ctr"/>
          <a:lstStyle/>
          <a:p>
            <a:pPr algn="r" indent="0" marL="0">
              <a:buNone/>
            </a:pPr>
            <a:r>
              <a:rPr lang="en-US" sz="1400" b="1" dirty="0">
                <a:solidFill>
                  <a:srgbClr val="6B7788"/>
                </a:solidFill>
                <a:latin typeface="Calibri" pitchFamily="34" charset="0"/>
                <a:ea typeface="Calibri" pitchFamily="34" charset="-122"/>
                <a:cs typeface="Calibri" pitchFamily="34" charset="-120"/>
              </a:rPr>
              <a:t>02</a:t>
            </a:r>
            <a:endParaRPr lang="en-US" sz="1400" dirty="0"/>
          </a:p>
        </p:txBody>
      </p:sp>
      <p:sp>
        <p:nvSpPr>
          <p:cNvPr id="15" name="Text 11"/>
          <p:cNvSpPr txBox="1"/>
          <p:nvPr/>
        </p:nvSpPr>
        <p:spPr>
          <a:xfrm>
            <a:off x="3630168" y="3246120"/>
            <a:ext cx="2194560" cy="457200"/>
          </a:xfrm>
          <a:prstGeom prst="rect">
            <a:avLst/>
          </a:prstGeom>
          <a:noFill/>
          <a:ln/>
        </p:spPr>
        <p:txBody>
          <a:bodyPr wrap="square" lIns="0" tIns="0" rIns="0" bIns="0" rtlCol="0" anchor="ctr"/>
          <a:lstStyle/>
          <a:p>
            <a:pPr indent="0" marL="0">
              <a:buNone/>
            </a:pPr>
            <a:r>
              <a:rPr lang="en-US" sz="2200" b="1" dirty="0">
                <a:solidFill>
                  <a:srgbClr val="E8EDF2"/>
                </a:solidFill>
                <a:latin typeface="Calibri" pitchFamily="34" charset="0"/>
                <a:ea typeface="Calibri" pitchFamily="34" charset="-122"/>
                <a:cs typeface="Calibri" pitchFamily="34" charset="-120"/>
              </a:rPr>
              <a:t>Model the crowd</a:t>
            </a:r>
            <a:endParaRPr lang="en-US" sz="2200" dirty="0"/>
          </a:p>
        </p:txBody>
      </p:sp>
      <p:sp>
        <p:nvSpPr>
          <p:cNvPr id="16" name="Text 12"/>
          <p:cNvSpPr txBox="1"/>
          <p:nvPr/>
        </p:nvSpPr>
        <p:spPr>
          <a:xfrm>
            <a:off x="3630168" y="3749040"/>
            <a:ext cx="2148840" cy="1463040"/>
          </a:xfrm>
          <a:prstGeom prst="rect">
            <a:avLst/>
          </a:prstGeom>
          <a:noFill/>
          <a:ln/>
        </p:spPr>
        <p:txBody>
          <a:bodyPr wrap="square" lIns="0" tIns="0" rIns="0" bIns="0" rtlCol="0" anchor="t"/>
          <a:lstStyle/>
          <a:p>
            <a:pPr indent="0" marL="0">
              <a:buNone/>
            </a:pPr>
            <a:r>
              <a:rPr lang="en-US" sz="1400" dirty="0">
                <a:solidFill>
                  <a:srgbClr val="9AA6B4"/>
                </a:solidFill>
                <a:latin typeface="Calibri" pitchFamily="34" charset="0"/>
                <a:ea typeface="Calibri" pitchFamily="34" charset="-122"/>
                <a:cs typeface="Calibri" pitchFamily="34" charset="-120"/>
              </a:rPr>
              <a:t>Attendance routed from rail stations, real lot capacities, rideshare curbs and walk-ups</a:t>
            </a:r>
            <a:endParaRPr lang="en-US" sz="1400" dirty="0"/>
          </a:p>
        </p:txBody>
      </p:sp>
      <p:sp>
        <p:nvSpPr>
          <p:cNvPr id="17" name="Text 13"/>
          <p:cNvSpPr txBox="1"/>
          <p:nvPr/>
        </p:nvSpPr>
        <p:spPr>
          <a:xfrm>
            <a:off x="5961888" y="3291840"/>
            <a:ext cx="201168" cy="548640"/>
          </a:xfrm>
          <a:prstGeom prst="rect">
            <a:avLst/>
          </a:prstGeom>
          <a:noFill/>
          <a:ln/>
        </p:spPr>
        <p:txBody>
          <a:bodyPr wrap="square" lIns="0" tIns="0" rIns="0" bIns="0" rtlCol="0" anchor="ctr"/>
          <a:lstStyle/>
          <a:p>
            <a:pPr algn="ctr" indent="0" marL="0">
              <a:buNone/>
            </a:pPr>
            <a:r>
              <a:rPr lang="en-US" sz="3000" b="1" dirty="0">
                <a:solidFill>
                  <a:srgbClr val="FF7A1A"/>
                </a:solidFill>
                <a:latin typeface="Calibri" pitchFamily="34" charset="0"/>
                <a:ea typeface="Calibri" pitchFamily="34" charset="-122"/>
                <a:cs typeface="Calibri" pitchFamily="34" charset="-120"/>
              </a:rPr>
              <a:t>›</a:t>
            </a:r>
            <a:endParaRPr lang="en-US" sz="3000" dirty="0"/>
          </a:p>
        </p:txBody>
      </p:sp>
      <p:sp>
        <p:nvSpPr>
          <p:cNvPr id="18" name="Shape 14"/>
          <p:cNvSpPr/>
          <p:nvPr/>
        </p:nvSpPr>
        <p:spPr>
          <a:xfrm>
            <a:off x="6163056" y="2148840"/>
            <a:ext cx="2606040" cy="3200400"/>
          </a:xfrm>
          <a:prstGeom prst="roundRect">
            <a:avLst>
              <a:gd name="adj" fmla="val 4211"/>
            </a:avLst>
          </a:prstGeom>
          <a:solidFill>
            <a:srgbClr val="151C25"/>
          </a:solidFill>
          <a:ln w="9525">
            <a:solidFill>
              <a:srgbClr val="2A3441"/>
            </a:solidFill>
            <a:prstDash val="solid"/>
          </a:ln>
        </p:spPr>
      </p:sp>
      <p:sp>
        <p:nvSpPr>
          <p:cNvPr id="19" name="Shape 15"/>
          <p:cNvSpPr/>
          <p:nvPr/>
        </p:nvSpPr>
        <p:spPr>
          <a:xfrm>
            <a:off x="6437376" y="2423160"/>
            <a:ext cx="603504" cy="603504"/>
          </a:xfrm>
          <a:prstGeom prst="ellipse">
            <a:avLst/>
          </a:prstGeom>
          <a:solidFill>
            <a:srgbClr val="FF7A1A"/>
          </a:solidFill>
          <a:ln w="12700">
            <a:solidFill>
              <a:srgbClr val="FF7A1A"/>
            </a:solidFill>
            <a:prstDash val="solid"/>
          </a:ln>
        </p:spPr>
      </p:sp>
      <p:pic>
        <p:nvPicPr>
          <p:cNvPr id="20" name="Image 2" descr="preencoded.png">    </p:cNvPr>
          <p:cNvPicPr>
            <a:picLocks noChangeAspect="1"/>
          </p:cNvPicPr>
          <p:nvPr/>
        </p:nvPicPr>
        <p:blipFill>
          <a:blip r:embed="rId3"/>
          <a:stretch>
            <a:fillRect/>
          </a:stretch>
        </p:blipFill>
        <p:spPr>
          <a:xfrm>
            <a:off x="6594287" y="2580071"/>
            <a:ext cx="289682" cy="289682"/>
          </a:xfrm>
          <a:prstGeom prst="rect">
            <a:avLst/>
          </a:prstGeom>
        </p:spPr>
      </p:pic>
      <p:sp>
        <p:nvSpPr>
          <p:cNvPr id="21" name="Text 16"/>
          <p:cNvSpPr txBox="1"/>
          <p:nvPr/>
        </p:nvSpPr>
        <p:spPr>
          <a:xfrm>
            <a:off x="7991856" y="2468880"/>
            <a:ext cx="548640" cy="365760"/>
          </a:xfrm>
          <a:prstGeom prst="rect">
            <a:avLst/>
          </a:prstGeom>
          <a:noFill/>
          <a:ln/>
        </p:spPr>
        <p:txBody>
          <a:bodyPr wrap="square" lIns="0" tIns="0" rIns="0" bIns="0" rtlCol="0" anchor="ctr"/>
          <a:lstStyle/>
          <a:p>
            <a:pPr algn="r" indent="0" marL="0">
              <a:buNone/>
            </a:pPr>
            <a:r>
              <a:rPr lang="en-US" sz="1400" b="1" dirty="0">
                <a:solidFill>
                  <a:srgbClr val="6B7788"/>
                </a:solidFill>
                <a:latin typeface="Calibri" pitchFamily="34" charset="0"/>
                <a:ea typeface="Calibri" pitchFamily="34" charset="-122"/>
                <a:cs typeface="Calibri" pitchFamily="34" charset="-120"/>
              </a:rPr>
              <a:t>03</a:t>
            </a:r>
            <a:endParaRPr lang="en-US" sz="1400" dirty="0"/>
          </a:p>
        </p:txBody>
      </p:sp>
      <p:sp>
        <p:nvSpPr>
          <p:cNvPr id="22" name="Text 17"/>
          <p:cNvSpPr txBox="1"/>
          <p:nvPr/>
        </p:nvSpPr>
        <p:spPr>
          <a:xfrm>
            <a:off x="6437376" y="3246120"/>
            <a:ext cx="2194560" cy="457200"/>
          </a:xfrm>
          <a:prstGeom prst="rect">
            <a:avLst/>
          </a:prstGeom>
          <a:noFill/>
          <a:ln/>
        </p:spPr>
        <p:txBody>
          <a:bodyPr wrap="square" lIns="0" tIns="0" rIns="0" bIns="0" rtlCol="0" anchor="ctr"/>
          <a:lstStyle/>
          <a:p>
            <a:pPr indent="0" marL="0">
              <a:buNone/>
            </a:pPr>
            <a:r>
              <a:rPr lang="en-US" sz="2200" b="1" dirty="0">
                <a:solidFill>
                  <a:srgbClr val="E8EDF2"/>
                </a:solidFill>
                <a:latin typeface="Calibri" pitchFamily="34" charset="0"/>
                <a:ea typeface="Calibri" pitchFamily="34" charset="-122"/>
                <a:cs typeface="Calibri" pitchFamily="34" charset="-120"/>
              </a:rPr>
              <a:t>Score risk</a:t>
            </a:r>
            <a:endParaRPr lang="en-US" sz="2200" dirty="0"/>
          </a:p>
        </p:txBody>
      </p:sp>
      <p:sp>
        <p:nvSpPr>
          <p:cNvPr id="23" name="Text 18"/>
          <p:cNvSpPr txBox="1"/>
          <p:nvPr/>
        </p:nvSpPr>
        <p:spPr>
          <a:xfrm>
            <a:off x="6437376" y="3749040"/>
            <a:ext cx="2148840" cy="1463040"/>
          </a:xfrm>
          <a:prstGeom prst="rect">
            <a:avLst/>
          </a:prstGeom>
          <a:noFill/>
          <a:ln/>
        </p:spPr>
        <p:txBody>
          <a:bodyPr wrap="square" lIns="0" tIns="0" rIns="0" bIns="0" rtlCol="0" anchor="t"/>
          <a:lstStyle/>
          <a:p>
            <a:pPr indent="0" marL="0">
              <a:buNone/>
            </a:pPr>
            <a:r>
              <a:rPr lang="en-US" sz="1400" dirty="0">
                <a:solidFill>
                  <a:srgbClr val="9AA6B4"/>
                </a:solidFill>
                <a:latin typeface="Calibri" pitchFamily="34" charset="0"/>
                <a:ea typeface="Calibri" pitchFamily="34" charset="-122"/>
                <a:cs typeface="Calibri" pitchFamily="34" charset="-120"/>
              </a:rPr>
              <a:t>Transparent 0–100 Heat Event Risk Index for every cell, live as you move sliders</a:t>
            </a:r>
            <a:endParaRPr lang="en-US" sz="1400" dirty="0"/>
          </a:p>
        </p:txBody>
      </p:sp>
      <p:sp>
        <p:nvSpPr>
          <p:cNvPr id="24" name="Text 19"/>
          <p:cNvSpPr txBox="1"/>
          <p:nvPr/>
        </p:nvSpPr>
        <p:spPr>
          <a:xfrm>
            <a:off x="8769096" y="3291840"/>
            <a:ext cx="201168" cy="548640"/>
          </a:xfrm>
          <a:prstGeom prst="rect">
            <a:avLst/>
          </a:prstGeom>
          <a:noFill/>
          <a:ln/>
        </p:spPr>
        <p:txBody>
          <a:bodyPr wrap="square" lIns="0" tIns="0" rIns="0" bIns="0" rtlCol="0" anchor="ctr"/>
          <a:lstStyle/>
          <a:p>
            <a:pPr algn="ctr" indent="0" marL="0">
              <a:buNone/>
            </a:pPr>
            <a:r>
              <a:rPr lang="en-US" sz="3000" b="1" dirty="0">
                <a:solidFill>
                  <a:srgbClr val="FF7A1A"/>
                </a:solidFill>
                <a:latin typeface="Calibri" pitchFamily="34" charset="0"/>
                <a:ea typeface="Calibri" pitchFamily="34" charset="-122"/>
                <a:cs typeface="Calibri" pitchFamily="34" charset="-120"/>
              </a:rPr>
              <a:t>›</a:t>
            </a:r>
            <a:endParaRPr lang="en-US" sz="3000" dirty="0"/>
          </a:p>
        </p:txBody>
      </p:sp>
      <p:sp>
        <p:nvSpPr>
          <p:cNvPr id="25" name="Shape 20"/>
          <p:cNvSpPr/>
          <p:nvPr/>
        </p:nvSpPr>
        <p:spPr>
          <a:xfrm>
            <a:off x="8970264" y="2148840"/>
            <a:ext cx="2606040" cy="3200400"/>
          </a:xfrm>
          <a:prstGeom prst="roundRect">
            <a:avLst>
              <a:gd name="adj" fmla="val 4211"/>
            </a:avLst>
          </a:prstGeom>
          <a:solidFill>
            <a:srgbClr val="151C25"/>
          </a:solidFill>
          <a:ln w="9525">
            <a:solidFill>
              <a:srgbClr val="2A3441"/>
            </a:solidFill>
            <a:prstDash val="solid"/>
          </a:ln>
        </p:spPr>
      </p:sp>
      <p:sp>
        <p:nvSpPr>
          <p:cNvPr id="26" name="Shape 21"/>
          <p:cNvSpPr/>
          <p:nvPr/>
        </p:nvSpPr>
        <p:spPr>
          <a:xfrm>
            <a:off x="9244584" y="2423160"/>
            <a:ext cx="603504" cy="603504"/>
          </a:xfrm>
          <a:prstGeom prst="ellipse">
            <a:avLst/>
          </a:prstGeom>
          <a:solidFill>
            <a:srgbClr val="FF7A1A"/>
          </a:solidFill>
          <a:ln w="12700">
            <a:solidFill>
              <a:srgbClr val="FF7A1A"/>
            </a:solidFill>
            <a:prstDash val="solid"/>
          </a:ln>
        </p:spPr>
      </p:sp>
      <p:pic>
        <p:nvPicPr>
          <p:cNvPr id="27" name="Image 3" descr="preencoded.png">    </p:cNvPr>
          <p:cNvPicPr>
            <a:picLocks noChangeAspect="1"/>
          </p:cNvPicPr>
          <p:nvPr/>
        </p:nvPicPr>
        <p:blipFill>
          <a:blip r:embed="rId4"/>
          <a:stretch>
            <a:fillRect/>
          </a:stretch>
        </p:blipFill>
        <p:spPr>
          <a:xfrm>
            <a:off x="9401495" y="2580071"/>
            <a:ext cx="289682" cy="289682"/>
          </a:xfrm>
          <a:prstGeom prst="rect">
            <a:avLst/>
          </a:prstGeom>
        </p:spPr>
      </p:pic>
      <p:sp>
        <p:nvSpPr>
          <p:cNvPr id="28" name="Text 22"/>
          <p:cNvSpPr txBox="1"/>
          <p:nvPr/>
        </p:nvSpPr>
        <p:spPr>
          <a:xfrm>
            <a:off x="10799064" y="2468880"/>
            <a:ext cx="548640" cy="365760"/>
          </a:xfrm>
          <a:prstGeom prst="rect">
            <a:avLst/>
          </a:prstGeom>
          <a:noFill/>
          <a:ln/>
        </p:spPr>
        <p:txBody>
          <a:bodyPr wrap="square" lIns="0" tIns="0" rIns="0" bIns="0" rtlCol="0" anchor="ctr"/>
          <a:lstStyle/>
          <a:p>
            <a:pPr algn="r" indent="0" marL="0">
              <a:buNone/>
            </a:pPr>
            <a:r>
              <a:rPr lang="en-US" sz="1400" b="1" dirty="0">
                <a:solidFill>
                  <a:srgbClr val="6B7788"/>
                </a:solidFill>
                <a:latin typeface="Calibri" pitchFamily="34" charset="0"/>
                <a:ea typeface="Calibri" pitchFamily="34" charset="-122"/>
                <a:cs typeface="Calibri" pitchFamily="34" charset="-120"/>
              </a:rPr>
              <a:t>04</a:t>
            </a:r>
            <a:endParaRPr lang="en-US" sz="1400" dirty="0"/>
          </a:p>
        </p:txBody>
      </p:sp>
      <p:sp>
        <p:nvSpPr>
          <p:cNvPr id="29" name="Text 23"/>
          <p:cNvSpPr txBox="1"/>
          <p:nvPr/>
        </p:nvSpPr>
        <p:spPr>
          <a:xfrm>
            <a:off x="9244584" y="3246120"/>
            <a:ext cx="2194560" cy="457200"/>
          </a:xfrm>
          <a:prstGeom prst="rect">
            <a:avLst/>
          </a:prstGeom>
          <a:noFill/>
          <a:ln/>
        </p:spPr>
        <p:txBody>
          <a:bodyPr wrap="square" lIns="0" tIns="0" rIns="0" bIns="0" rtlCol="0" anchor="ctr"/>
          <a:lstStyle/>
          <a:p>
            <a:pPr indent="0" marL="0">
              <a:buNone/>
            </a:pPr>
            <a:r>
              <a:rPr lang="en-US" sz="2200" b="1" dirty="0">
                <a:solidFill>
                  <a:srgbClr val="E8EDF2"/>
                </a:solidFill>
                <a:latin typeface="Calibri" pitchFamily="34" charset="0"/>
                <a:ea typeface="Calibri" pitchFamily="34" charset="-122"/>
                <a:cs typeface="Calibri" pitchFamily="34" charset="-120"/>
              </a:rPr>
              <a:t>Act</a:t>
            </a:r>
            <a:endParaRPr lang="en-US" sz="2200" dirty="0"/>
          </a:p>
        </p:txBody>
      </p:sp>
      <p:sp>
        <p:nvSpPr>
          <p:cNvPr id="30" name="Text 24"/>
          <p:cNvSpPr txBox="1"/>
          <p:nvPr/>
        </p:nvSpPr>
        <p:spPr>
          <a:xfrm>
            <a:off x="9244584" y="3749040"/>
            <a:ext cx="2148840" cy="1463040"/>
          </a:xfrm>
          <a:prstGeom prst="rect">
            <a:avLst/>
          </a:prstGeom>
          <a:noFill/>
          <a:ln/>
        </p:spPr>
        <p:txBody>
          <a:bodyPr wrap="square" lIns="0" tIns="0" rIns="0" bIns="0" rtlCol="0" anchor="t"/>
          <a:lstStyle/>
          <a:p>
            <a:pPr indent="0" marL="0">
              <a:buNone/>
            </a:pPr>
            <a:r>
              <a:rPr lang="en-US" sz="1400" dirty="0">
                <a:solidFill>
                  <a:srgbClr val="9AA6B4"/>
                </a:solidFill>
                <a:latin typeface="Calibri" pitchFamily="34" charset="0"/>
                <a:ea typeface="Calibri" pitchFamily="34" charset="-122"/>
                <a:cs typeface="Calibri" pitchFamily="34" charset="-120"/>
              </a:rPr>
              <a:t>Place cooling, shade, water or shuttles — or let the optimizer spend the budget</a:t>
            </a:r>
            <a:endParaRPr lang="en-US" sz="1400" dirty="0"/>
          </a:p>
        </p:txBody>
      </p:sp>
      <p:sp>
        <p:nvSpPr>
          <p:cNvPr id="31" name="Text 25"/>
          <p:cNvSpPr txBox="1"/>
          <p:nvPr/>
        </p:nvSpPr>
        <p:spPr>
          <a:xfrm>
            <a:off x="548640" y="5715000"/>
            <a:ext cx="10515600" cy="411480"/>
          </a:xfrm>
          <a:prstGeom prst="rect">
            <a:avLst/>
          </a:prstGeom>
          <a:noFill/>
          <a:ln/>
        </p:spPr>
        <p:txBody>
          <a:bodyPr wrap="square" lIns="0" tIns="0" rIns="0" bIns="0" rtlCol="0" anchor="ctr"/>
          <a:lstStyle/>
          <a:p>
            <a:pPr indent="0" marL="0">
              <a:buNone/>
            </a:pPr>
            <a:r>
              <a:rPr lang="en-US" sz="1700" i="1" dirty="0">
                <a:solidFill>
                  <a:srgbClr val="E8EDF2"/>
                </a:solidFill>
                <a:latin typeface="Calibri" pitchFamily="34" charset="0"/>
                <a:ea typeface="Calibri" pitchFamily="34" charset="-122"/>
                <a:cs typeface="Calibri" pitchFamily="34" charset="-120"/>
              </a:rPr>
              <a:t>No database, no black box: open data in, every assumption visible, runs in the browser.</a:t>
            </a:r>
            <a:endParaRPr lang="en-US" sz="1700" dirty="0"/>
          </a:p>
        </p:txBody>
      </p:sp>
      <p:sp>
        <p:nvSpPr>
          <p:cNvPr id="33" name="Text 26"/>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1000" dirty="0">
                <a:solidFill>
                  <a:srgbClr val="6B7788"/>
                </a:solidFill>
                <a:latin typeface="Calibri" pitchFamily="34" charset="0"/>
                <a:ea typeface="Calibri" pitchFamily="34" charset="-122"/>
                <a:cs typeface="Calibri" pitchFamily="34" charset="-120"/>
              </a:rPr>
              <a:t>HeatShield 26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D12"/>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200" b="1" spc="300" kern="0" dirty="0">
                <a:solidFill>
                  <a:srgbClr val="FF7A1A"/>
                </a:solidFill>
                <a:latin typeface="Calibri" pitchFamily="34" charset="0"/>
                <a:ea typeface="Calibri" pitchFamily="34" charset="-122"/>
                <a:cs typeface="Calibri" pitchFamily="34" charset="-120"/>
              </a:rPr>
              <a:t>THE MODEL</a:t>
            </a:r>
            <a:endParaRPr lang="en-US" sz="1200" dirty="0"/>
          </a:p>
        </p:txBody>
      </p:sp>
      <p:sp>
        <p:nvSpPr>
          <p:cNvPr id="3" name="Text 1"/>
          <p:cNvSpPr txBox="1"/>
          <p:nvPr/>
        </p:nvSpPr>
        <p:spPr>
          <a:xfrm>
            <a:off x="548640" y="749808"/>
            <a:ext cx="11094415" cy="914400"/>
          </a:xfrm>
          <a:prstGeom prst="rect">
            <a:avLst/>
          </a:prstGeom>
          <a:noFill/>
          <a:ln/>
        </p:spPr>
        <p:txBody>
          <a:bodyPr wrap="square" lIns="0" tIns="0" rIns="0" bIns="0" rtlCol="0" anchor="t"/>
          <a:lstStyle/>
          <a:p>
            <a:pPr indent="0" marL="0">
              <a:buNone/>
            </a:pPr>
            <a:r>
              <a:rPr lang="en-US" sz="3400" b="1" dirty="0">
                <a:solidFill>
                  <a:srgbClr val="E8EDF2"/>
                </a:solidFill>
                <a:latin typeface="Calibri" pitchFamily="34" charset="0"/>
                <a:ea typeface="Calibri" pitchFamily="34" charset="-122"/>
                <a:cs typeface="Calibri" pitchFamily="34" charset="-120"/>
              </a:rPr>
              <a:t>An explainable Heat Event Risk Index</a:t>
            </a:r>
            <a:endParaRPr lang="en-US" sz="3400" dirty="0"/>
          </a:p>
        </p:txBody>
      </p:sp>
      <p:sp>
        <p:nvSpPr>
          <p:cNvPr id="4" name="Shape 2"/>
          <p:cNvSpPr/>
          <p:nvPr/>
        </p:nvSpPr>
        <p:spPr>
          <a:xfrm>
            <a:off x="548640" y="1874520"/>
            <a:ext cx="6675120" cy="731520"/>
          </a:xfrm>
          <a:prstGeom prst="roundRect">
            <a:avLst>
              <a:gd name="adj" fmla="val 15000"/>
            </a:avLst>
          </a:prstGeom>
          <a:solidFill>
            <a:srgbClr val="151C25"/>
          </a:solidFill>
          <a:ln w="9525">
            <a:solidFill>
              <a:srgbClr val="2A3441"/>
            </a:solidFill>
            <a:prstDash val="solid"/>
          </a:ln>
        </p:spPr>
      </p:sp>
      <p:sp>
        <p:nvSpPr>
          <p:cNvPr id="5" name="Shape 3"/>
          <p:cNvSpPr/>
          <p:nvPr/>
        </p:nvSpPr>
        <p:spPr>
          <a:xfrm>
            <a:off x="713232" y="2002536"/>
            <a:ext cx="475488" cy="475488"/>
          </a:xfrm>
          <a:prstGeom prst="ellipse">
            <a:avLst/>
          </a:prstGeom>
          <a:solidFill>
            <a:srgbClr val="E5383B"/>
          </a:solidFill>
          <a:ln w="12700">
            <a:solidFill>
              <a:srgbClr val="E5383B"/>
            </a:solidFill>
            <a:prstDash val="solid"/>
          </a:ln>
        </p:spPr>
      </p:sp>
      <p:pic>
        <p:nvPicPr>
          <p:cNvPr id="6" name="Image 0" descr="preencoded.png">    </p:cNvPr>
          <p:cNvPicPr>
            <a:picLocks noChangeAspect="1"/>
          </p:cNvPicPr>
          <p:nvPr/>
        </p:nvPicPr>
        <p:blipFill>
          <a:blip r:embed="rId1"/>
          <a:stretch>
            <a:fillRect/>
          </a:stretch>
        </p:blipFill>
        <p:spPr>
          <a:xfrm>
            <a:off x="836859" y="2126163"/>
            <a:ext cx="228234" cy="228234"/>
          </a:xfrm>
          <a:prstGeom prst="rect">
            <a:avLst/>
          </a:prstGeom>
        </p:spPr>
      </p:pic>
      <p:sp>
        <p:nvSpPr>
          <p:cNvPr id="7" name="Text 4"/>
          <p:cNvSpPr txBox="1"/>
          <p:nvPr/>
        </p:nvSpPr>
        <p:spPr>
          <a:xfrm>
            <a:off x="1325880" y="1874520"/>
            <a:ext cx="914400" cy="731520"/>
          </a:xfrm>
          <a:prstGeom prst="rect">
            <a:avLst/>
          </a:prstGeom>
          <a:noFill/>
          <a:ln/>
        </p:spPr>
        <p:txBody>
          <a:bodyPr wrap="square" lIns="0" tIns="0" rIns="0" bIns="0" rtlCol="0" anchor="ctr"/>
          <a:lstStyle/>
          <a:p>
            <a:pPr indent="0" marL="0">
              <a:buNone/>
            </a:pPr>
            <a:r>
              <a:rPr lang="en-US" sz="2400" b="1" dirty="0">
                <a:solidFill>
                  <a:srgbClr val="E8EDF2"/>
                </a:solidFill>
                <a:latin typeface="Calibri" pitchFamily="34" charset="0"/>
                <a:ea typeface="Calibri" pitchFamily="34" charset="-122"/>
                <a:cs typeface="Calibri" pitchFamily="34" charset="-120"/>
              </a:rPr>
              <a:t>40%</a:t>
            </a:r>
            <a:endParaRPr lang="en-US" sz="2400" dirty="0"/>
          </a:p>
        </p:txBody>
      </p:sp>
      <p:sp>
        <p:nvSpPr>
          <p:cNvPr id="8" name="Text 5"/>
          <p:cNvSpPr txBox="1"/>
          <p:nvPr/>
        </p:nvSpPr>
        <p:spPr>
          <a:xfrm>
            <a:off x="2240280" y="1947672"/>
            <a:ext cx="4846320" cy="329184"/>
          </a:xfrm>
          <a:prstGeom prst="rect">
            <a:avLst/>
          </a:prstGeom>
          <a:noFill/>
          <a:ln/>
        </p:spPr>
        <p:txBody>
          <a:bodyPr wrap="square" lIns="0" tIns="0" rIns="0" bIns="0" rtlCol="0" anchor="ctr"/>
          <a:lstStyle/>
          <a:p>
            <a:pPr indent="0" marL="0">
              <a:buNone/>
            </a:pPr>
            <a:r>
              <a:rPr lang="en-US" sz="1600" b="1" dirty="0">
                <a:solidFill>
                  <a:srgbClr val="E8EDF2"/>
                </a:solidFill>
                <a:latin typeface="Calibri" pitchFamily="34" charset="0"/>
                <a:ea typeface="Calibri" pitchFamily="34" charset="-122"/>
                <a:cs typeface="Calibri" pitchFamily="34" charset="-120"/>
              </a:rPr>
              <a:t>Heat exposure</a:t>
            </a:r>
            <a:endParaRPr lang="en-US" sz="1600" dirty="0"/>
          </a:p>
        </p:txBody>
      </p:sp>
      <p:sp>
        <p:nvSpPr>
          <p:cNvPr id="9" name="Text 6"/>
          <p:cNvSpPr txBox="1"/>
          <p:nvPr/>
        </p:nvSpPr>
        <p:spPr>
          <a:xfrm>
            <a:off x="2240280" y="2258568"/>
            <a:ext cx="4846320" cy="292608"/>
          </a:xfrm>
          <a:prstGeom prst="rect">
            <a:avLst/>
          </a:prstGeom>
          <a:noFill/>
          <a:ln/>
        </p:spPr>
        <p:txBody>
          <a:bodyPr wrap="square" lIns="0" tIns="0" rIns="0" bIns="0" rtlCol="0" anchor="ctr"/>
          <a:lstStyle/>
          <a:p>
            <a:pPr indent="0" marL="0">
              <a:buNone/>
            </a:pPr>
            <a:r>
              <a:rPr lang="en-US" sz="1300" dirty="0">
                <a:solidFill>
                  <a:srgbClr val="9AA6B4"/>
                </a:solidFill>
                <a:latin typeface="Calibri" pitchFamily="34" charset="0"/>
                <a:ea typeface="Calibri" pitchFamily="34" charset="-122"/>
                <a:cs typeface="Calibri" pitchFamily="34" charset="-120"/>
              </a:rPr>
              <a:t>Scenario heat index + H3AT local anomaly</a:t>
            </a:r>
            <a:endParaRPr lang="en-US" sz="1300" dirty="0"/>
          </a:p>
        </p:txBody>
      </p:sp>
      <p:sp>
        <p:nvSpPr>
          <p:cNvPr id="10" name="Shape 7"/>
          <p:cNvSpPr/>
          <p:nvPr/>
        </p:nvSpPr>
        <p:spPr>
          <a:xfrm>
            <a:off x="548640" y="2724912"/>
            <a:ext cx="6675120" cy="731520"/>
          </a:xfrm>
          <a:prstGeom prst="roundRect">
            <a:avLst>
              <a:gd name="adj" fmla="val 15000"/>
            </a:avLst>
          </a:prstGeom>
          <a:solidFill>
            <a:srgbClr val="151C25"/>
          </a:solidFill>
          <a:ln w="9525">
            <a:solidFill>
              <a:srgbClr val="2A3441"/>
            </a:solidFill>
            <a:prstDash val="solid"/>
          </a:ln>
        </p:spPr>
      </p:sp>
      <p:sp>
        <p:nvSpPr>
          <p:cNvPr id="11" name="Shape 8"/>
          <p:cNvSpPr/>
          <p:nvPr/>
        </p:nvSpPr>
        <p:spPr>
          <a:xfrm>
            <a:off x="713232" y="2852928"/>
            <a:ext cx="475488" cy="475488"/>
          </a:xfrm>
          <a:prstGeom prst="ellipse">
            <a:avLst/>
          </a:prstGeom>
          <a:solidFill>
            <a:srgbClr val="A78BFA"/>
          </a:solidFill>
          <a:ln w="12700">
            <a:solidFill>
              <a:srgbClr val="A78BFA"/>
            </a:solidFill>
            <a:prstDash val="solid"/>
          </a:ln>
        </p:spPr>
      </p:sp>
      <p:pic>
        <p:nvPicPr>
          <p:cNvPr id="12" name="Image 1" descr="preencoded.png">    </p:cNvPr>
          <p:cNvPicPr>
            <a:picLocks noChangeAspect="1"/>
          </p:cNvPicPr>
          <p:nvPr/>
        </p:nvPicPr>
        <p:blipFill>
          <a:blip r:embed="rId2"/>
          <a:stretch>
            <a:fillRect/>
          </a:stretch>
        </p:blipFill>
        <p:spPr>
          <a:xfrm>
            <a:off x="836859" y="2976555"/>
            <a:ext cx="228234" cy="228234"/>
          </a:xfrm>
          <a:prstGeom prst="rect">
            <a:avLst/>
          </a:prstGeom>
        </p:spPr>
      </p:pic>
      <p:sp>
        <p:nvSpPr>
          <p:cNvPr id="13" name="Text 9"/>
          <p:cNvSpPr txBox="1"/>
          <p:nvPr/>
        </p:nvSpPr>
        <p:spPr>
          <a:xfrm>
            <a:off x="1325880" y="2724912"/>
            <a:ext cx="914400" cy="731520"/>
          </a:xfrm>
          <a:prstGeom prst="rect">
            <a:avLst/>
          </a:prstGeom>
          <a:noFill/>
          <a:ln/>
        </p:spPr>
        <p:txBody>
          <a:bodyPr wrap="square" lIns="0" tIns="0" rIns="0" bIns="0" rtlCol="0" anchor="ctr"/>
          <a:lstStyle/>
          <a:p>
            <a:pPr indent="0" marL="0">
              <a:buNone/>
            </a:pPr>
            <a:r>
              <a:rPr lang="en-US" sz="2400" b="1" dirty="0">
                <a:solidFill>
                  <a:srgbClr val="E8EDF2"/>
                </a:solidFill>
                <a:latin typeface="Calibri" pitchFamily="34" charset="0"/>
                <a:ea typeface="Calibri" pitchFamily="34" charset="-122"/>
                <a:cs typeface="Calibri" pitchFamily="34" charset="-120"/>
              </a:rPr>
              <a:t>25%</a:t>
            </a:r>
            <a:endParaRPr lang="en-US" sz="2400" dirty="0"/>
          </a:p>
        </p:txBody>
      </p:sp>
      <p:sp>
        <p:nvSpPr>
          <p:cNvPr id="14" name="Text 10"/>
          <p:cNvSpPr txBox="1"/>
          <p:nvPr/>
        </p:nvSpPr>
        <p:spPr>
          <a:xfrm>
            <a:off x="2240280" y="2798064"/>
            <a:ext cx="4846320" cy="329184"/>
          </a:xfrm>
          <a:prstGeom prst="rect">
            <a:avLst/>
          </a:prstGeom>
          <a:noFill/>
          <a:ln/>
        </p:spPr>
        <p:txBody>
          <a:bodyPr wrap="square" lIns="0" tIns="0" rIns="0" bIns="0" rtlCol="0" anchor="ctr"/>
          <a:lstStyle/>
          <a:p>
            <a:pPr indent="0" marL="0">
              <a:buNone/>
            </a:pPr>
            <a:r>
              <a:rPr lang="en-US" sz="1600" b="1" dirty="0">
                <a:solidFill>
                  <a:srgbClr val="E8EDF2"/>
                </a:solidFill>
                <a:latin typeface="Calibri" pitchFamily="34" charset="0"/>
                <a:ea typeface="Calibri" pitchFamily="34" charset="-122"/>
                <a:cs typeface="Calibri" pitchFamily="34" charset="-120"/>
              </a:rPr>
              <a:t>Event crowd exposure</a:t>
            </a:r>
            <a:endParaRPr lang="en-US" sz="1600" dirty="0"/>
          </a:p>
        </p:txBody>
      </p:sp>
      <p:sp>
        <p:nvSpPr>
          <p:cNvPr id="15" name="Text 11"/>
          <p:cNvSpPr txBox="1"/>
          <p:nvPr/>
        </p:nvSpPr>
        <p:spPr>
          <a:xfrm>
            <a:off x="2240280" y="3108960"/>
            <a:ext cx="4846320" cy="292608"/>
          </a:xfrm>
          <a:prstGeom prst="rect">
            <a:avLst/>
          </a:prstGeom>
          <a:noFill/>
          <a:ln/>
        </p:spPr>
        <p:txBody>
          <a:bodyPr wrap="square" lIns="0" tIns="0" rIns="0" bIns="0" rtlCol="0" anchor="ctr"/>
          <a:lstStyle/>
          <a:p>
            <a:pPr indent="0" marL="0">
              <a:buNone/>
            </a:pPr>
            <a:r>
              <a:rPr lang="en-US" sz="1300" dirty="0">
                <a:solidFill>
                  <a:srgbClr val="9AA6B4"/>
                </a:solidFill>
                <a:latin typeface="Calibri" pitchFamily="34" charset="0"/>
                <a:ea typeface="Calibri" pitchFamily="34" charset="-122"/>
                <a:cs typeface="Calibri" pitchFamily="34" charset="-120"/>
              </a:rPr>
              <a:t>Modeled person-hours per cell</a:t>
            </a:r>
            <a:endParaRPr lang="en-US" sz="1300" dirty="0"/>
          </a:p>
        </p:txBody>
      </p:sp>
      <p:sp>
        <p:nvSpPr>
          <p:cNvPr id="16" name="Shape 12"/>
          <p:cNvSpPr/>
          <p:nvPr/>
        </p:nvSpPr>
        <p:spPr>
          <a:xfrm>
            <a:off x="548640" y="3575304"/>
            <a:ext cx="6675120" cy="731520"/>
          </a:xfrm>
          <a:prstGeom prst="roundRect">
            <a:avLst>
              <a:gd name="adj" fmla="val 15000"/>
            </a:avLst>
          </a:prstGeom>
          <a:solidFill>
            <a:srgbClr val="151C25"/>
          </a:solidFill>
          <a:ln w="9525">
            <a:solidFill>
              <a:srgbClr val="2A3441"/>
            </a:solidFill>
            <a:prstDash val="solid"/>
          </a:ln>
        </p:spPr>
      </p:sp>
      <p:sp>
        <p:nvSpPr>
          <p:cNvPr id="17" name="Shape 13"/>
          <p:cNvSpPr/>
          <p:nvPr/>
        </p:nvSpPr>
        <p:spPr>
          <a:xfrm>
            <a:off x="713232" y="3703320"/>
            <a:ext cx="475488" cy="475488"/>
          </a:xfrm>
          <a:prstGeom prst="ellipse">
            <a:avLst/>
          </a:prstGeom>
          <a:solidFill>
            <a:srgbClr val="14B8A6"/>
          </a:solidFill>
          <a:ln w="12700">
            <a:solidFill>
              <a:srgbClr val="14B8A6"/>
            </a:solidFill>
            <a:prstDash val="solid"/>
          </a:ln>
        </p:spPr>
      </p:sp>
      <p:pic>
        <p:nvPicPr>
          <p:cNvPr id="18" name="Image 2" descr="preencoded.png">    </p:cNvPr>
          <p:cNvPicPr>
            <a:picLocks noChangeAspect="1"/>
          </p:cNvPicPr>
          <p:nvPr/>
        </p:nvPicPr>
        <p:blipFill>
          <a:blip r:embed="rId3"/>
          <a:stretch>
            <a:fillRect/>
          </a:stretch>
        </p:blipFill>
        <p:spPr>
          <a:xfrm>
            <a:off x="836859" y="3826947"/>
            <a:ext cx="228234" cy="228234"/>
          </a:xfrm>
          <a:prstGeom prst="rect">
            <a:avLst/>
          </a:prstGeom>
        </p:spPr>
      </p:pic>
      <p:sp>
        <p:nvSpPr>
          <p:cNvPr id="19" name="Text 14"/>
          <p:cNvSpPr txBox="1"/>
          <p:nvPr/>
        </p:nvSpPr>
        <p:spPr>
          <a:xfrm>
            <a:off x="1325880" y="3575304"/>
            <a:ext cx="914400" cy="731520"/>
          </a:xfrm>
          <a:prstGeom prst="rect">
            <a:avLst/>
          </a:prstGeom>
          <a:noFill/>
          <a:ln/>
        </p:spPr>
        <p:txBody>
          <a:bodyPr wrap="square" lIns="0" tIns="0" rIns="0" bIns="0" rtlCol="0" anchor="ctr"/>
          <a:lstStyle/>
          <a:p>
            <a:pPr indent="0" marL="0">
              <a:buNone/>
            </a:pPr>
            <a:r>
              <a:rPr lang="en-US" sz="2400" b="1" dirty="0">
                <a:solidFill>
                  <a:srgbClr val="E8EDF2"/>
                </a:solidFill>
                <a:latin typeface="Calibri" pitchFamily="34" charset="0"/>
                <a:ea typeface="Calibri" pitchFamily="34" charset="-122"/>
                <a:cs typeface="Calibri" pitchFamily="34" charset="-120"/>
              </a:rPr>
              <a:t>20%</a:t>
            </a:r>
            <a:endParaRPr lang="en-US" sz="2400" dirty="0"/>
          </a:p>
        </p:txBody>
      </p:sp>
      <p:sp>
        <p:nvSpPr>
          <p:cNvPr id="20" name="Text 15"/>
          <p:cNvSpPr txBox="1"/>
          <p:nvPr/>
        </p:nvSpPr>
        <p:spPr>
          <a:xfrm>
            <a:off x="2240280" y="3648456"/>
            <a:ext cx="4846320" cy="329184"/>
          </a:xfrm>
          <a:prstGeom prst="rect">
            <a:avLst/>
          </a:prstGeom>
          <a:noFill/>
          <a:ln/>
        </p:spPr>
        <p:txBody>
          <a:bodyPr wrap="square" lIns="0" tIns="0" rIns="0" bIns="0" rtlCol="0" anchor="ctr"/>
          <a:lstStyle/>
          <a:p>
            <a:pPr indent="0" marL="0">
              <a:buNone/>
            </a:pPr>
            <a:r>
              <a:rPr lang="en-US" sz="1600" b="1" dirty="0">
                <a:solidFill>
                  <a:srgbClr val="E8EDF2"/>
                </a:solidFill>
                <a:latin typeface="Calibri" pitchFamily="34" charset="0"/>
                <a:ea typeface="Calibri" pitchFamily="34" charset="-122"/>
                <a:cs typeface="Calibri" pitchFamily="34" charset="-120"/>
              </a:rPr>
              <a:t>Health &amp; social vulnerability</a:t>
            </a:r>
            <a:endParaRPr lang="en-US" sz="1600" dirty="0"/>
          </a:p>
        </p:txBody>
      </p:sp>
      <p:sp>
        <p:nvSpPr>
          <p:cNvPr id="21" name="Text 16"/>
          <p:cNvSpPr txBox="1"/>
          <p:nvPr/>
        </p:nvSpPr>
        <p:spPr>
          <a:xfrm>
            <a:off x="2240280" y="3959352"/>
            <a:ext cx="4846320" cy="292608"/>
          </a:xfrm>
          <a:prstGeom prst="rect">
            <a:avLst/>
          </a:prstGeom>
          <a:noFill/>
          <a:ln/>
        </p:spPr>
        <p:txBody>
          <a:bodyPr wrap="square" lIns="0" tIns="0" rIns="0" bIns="0" rtlCol="0" anchor="ctr"/>
          <a:lstStyle/>
          <a:p>
            <a:pPr indent="0" marL="0">
              <a:buNone/>
            </a:pPr>
            <a:r>
              <a:rPr lang="en-US" sz="1300" dirty="0">
                <a:solidFill>
                  <a:srgbClr val="9AA6B4"/>
                </a:solidFill>
                <a:latin typeface="Calibri" pitchFamily="34" charset="0"/>
                <a:ea typeface="Calibri" pitchFamily="34" charset="-122"/>
                <a:cs typeface="Calibri" pitchFamily="34" charset="-120"/>
              </a:rPr>
              <a:t>CDC SVI + heart disease, COPD, diabetes, CKD</a:t>
            </a:r>
            <a:endParaRPr lang="en-US" sz="1300" dirty="0"/>
          </a:p>
        </p:txBody>
      </p:sp>
      <p:sp>
        <p:nvSpPr>
          <p:cNvPr id="22" name="Shape 17"/>
          <p:cNvSpPr/>
          <p:nvPr/>
        </p:nvSpPr>
        <p:spPr>
          <a:xfrm>
            <a:off x="548640" y="4425696"/>
            <a:ext cx="6675120" cy="731520"/>
          </a:xfrm>
          <a:prstGeom prst="roundRect">
            <a:avLst>
              <a:gd name="adj" fmla="val 15000"/>
            </a:avLst>
          </a:prstGeom>
          <a:solidFill>
            <a:srgbClr val="151C25"/>
          </a:solidFill>
          <a:ln w="9525">
            <a:solidFill>
              <a:srgbClr val="2A3441"/>
            </a:solidFill>
            <a:prstDash val="solid"/>
          </a:ln>
        </p:spPr>
      </p:sp>
      <p:sp>
        <p:nvSpPr>
          <p:cNvPr id="23" name="Shape 18"/>
          <p:cNvSpPr/>
          <p:nvPr/>
        </p:nvSpPr>
        <p:spPr>
          <a:xfrm>
            <a:off x="713232" y="4553712"/>
            <a:ext cx="475488" cy="475488"/>
          </a:xfrm>
          <a:prstGeom prst="ellipse">
            <a:avLst/>
          </a:prstGeom>
          <a:solidFill>
            <a:srgbClr val="2FBF71"/>
          </a:solidFill>
          <a:ln w="12700">
            <a:solidFill>
              <a:srgbClr val="2FBF71"/>
            </a:solidFill>
            <a:prstDash val="solid"/>
          </a:ln>
        </p:spPr>
      </p:sp>
      <p:pic>
        <p:nvPicPr>
          <p:cNvPr id="24" name="Image 3" descr="preencoded.png">    </p:cNvPr>
          <p:cNvPicPr>
            <a:picLocks noChangeAspect="1"/>
          </p:cNvPicPr>
          <p:nvPr/>
        </p:nvPicPr>
        <p:blipFill>
          <a:blip r:embed="rId4"/>
          <a:stretch>
            <a:fillRect/>
          </a:stretch>
        </p:blipFill>
        <p:spPr>
          <a:xfrm>
            <a:off x="836859" y="4677339"/>
            <a:ext cx="228234" cy="228234"/>
          </a:xfrm>
          <a:prstGeom prst="rect">
            <a:avLst/>
          </a:prstGeom>
        </p:spPr>
      </p:pic>
      <p:sp>
        <p:nvSpPr>
          <p:cNvPr id="25" name="Text 19"/>
          <p:cNvSpPr txBox="1"/>
          <p:nvPr/>
        </p:nvSpPr>
        <p:spPr>
          <a:xfrm>
            <a:off x="1325880" y="4425696"/>
            <a:ext cx="914400" cy="731520"/>
          </a:xfrm>
          <a:prstGeom prst="rect">
            <a:avLst/>
          </a:prstGeom>
          <a:noFill/>
          <a:ln/>
        </p:spPr>
        <p:txBody>
          <a:bodyPr wrap="square" lIns="0" tIns="0" rIns="0" bIns="0" rtlCol="0" anchor="ctr"/>
          <a:lstStyle/>
          <a:p>
            <a:pPr indent="0" marL="0">
              <a:buNone/>
            </a:pPr>
            <a:r>
              <a:rPr lang="en-US" sz="2400" b="1" dirty="0">
                <a:solidFill>
                  <a:srgbClr val="E8EDF2"/>
                </a:solidFill>
                <a:latin typeface="Calibri" pitchFamily="34" charset="0"/>
                <a:ea typeface="Calibri" pitchFamily="34" charset="-122"/>
                <a:cs typeface="Calibri" pitchFamily="34" charset="-120"/>
              </a:rPr>
              <a:t>10%</a:t>
            </a:r>
            <a:endParaRPr lang="en-US" sz="2400" dirty="0"/>
          </a:p>
        </p:txBody>
      </p:sp>
      <p:sp>
        <p:nvSpPr>
          <p:cNvPr id="26" name="Text 20"/>
          <p:cNvSpPr txBox="1"/>
          <p:nvPr/>
        </p:nvSpPr>
        <p:spPr>
          <a:xfrm>
            <a:off x="2240280" y="4498848"/>
            <a:ext cx="4846320" cy="329184"/>
          </a:xfrm>
          <a:prstGeom prst="rect">
            <a:avLst/>
          </a:prstGeom>
          <a:noFill/>
          <a:ln/>
        </p:spPr>
        <p:txBody>
          <a:bodyPr wrap="square" lIns="0" tIns="0" rIns="0" bIns="0" rtlCol="0" anchor="ctr"/>
          <a:lstStyle/>
          <a:p>
            <a:pPr indent="0" marL="0">
              <a:buNone/>
            </a:pPr>
            <a:r>
              <a:rPr lang="en-US" sz="1600" b="1" dirty="0">
                <a:solidFill>
                  <a:srgbClr val="E8EDF2"/>
                </a:solidFill>
                <a:latin typeface="Calibri" pitchFamily="34" charset="0"/>
                <a:ea typeface="Calibri" pitchFamily="34" charset="-122"/>
                <a:cs typeface="Calibri" pitchFamily="34" charset="-120"/>
              </a:rPr>
              <a:t>Shade deficit</a:t>
            </a:r>
            <a:endParaRPr lang="en-US" sz="1600" dirty="0"/>
          </a:p>
        </p:txBody>
      </p:sp>
      <p:sp>
        <p:nvSpPr>
          <p:cNvPr id="27" name="Text 21"/>
          <p:cNvSpPr txBox="1"/>
          <p:nvPr/>
        </p:nvSpPr>
        <p:spPr>
          <a:xfrm>
            <a:off x="2240280" y="4809744"/>
            <a:ext cx="4846320" cy="292608"/>
          </a:xfrm>
          <a:prstGeom prst="rect">
            <a:avLst/>
          </a:prstGeom>
          <a:noFill/>
          <a:ln/>
        </p:spPr>
        <p:txBody>
          <a:bodyPr wrap="square" lIns="0" tIns="0" rIns="0" bIns="0" rtlCol="0" anchor="ctr"/>
          <a:lstStyle/>
          <a:p>
            <a:pPr indent="0" marL="0">
              <a:buNone/>
            </a:pPr>
            <a:r>
              <a:rPr lang="en-US" sz="1300" dirty="0">
                <a:solidFill>
                  <a:srgbClr val="9AA6B4"/>
                </a:solidFill>
                <a:latin typeface="Calibri" pitchFamily="34" charset="0"/>
                <a:ea typeface="Calibri" pitchFamily="34" charset="-122"/>
                <a:cs typeface="Calibri" pitchFamily="34" charset="-120"/>
              </a:rPr>
              <a:t>USFS NLCD tree canopy</a:t>
            </a:r>
            <a:endParaRPr lang="en-US" sz="1300" dirty="0"/>
          </a:p>
        </p:txBody>
      </p:sp>
      <p:sp>
        <p:nvSpPr>
          <p:cNvPr id="28" name="Shape 22"/>
          <p:cNvSpPr/>
          <p:nvPr/>
        </p:nvSpPr>
        <p:spPr>
          <a:xfrm>
            <a:off x="548640" y="5276088"/>
            <a:ext cx="6675120" cy="731520"/>
          </a:xfrm>
          <a:prstGeom prst="roundRect">
            <a:avLst>
              <a:gd name="adj" fmla="val 15000"/>
            </a:avLst>
          </a:prstGeom>
          <a:solidFill>
            <a:srgbClr val="151C25"/>
          </a:solidFill>
          <a:ln w="9525">
            <a:solidFill>
              <a:srgbClr val="2A3441"/>
            </a:solidFill>
            <a:prstDash val="solid"/>
          </a:ln>
        </p:spPr>
      </p:sp>
      <p:sp>
        <p:nvSpPr>
          <p:cNvPr id="29" name="Shape 23"/>
          <p:cNvSpPr/>
          <p:nvPr/>
        </p:nvSpPr>
        <p:spPr>
          <a:xfrm>
            <a:off x="713232" y="5404104"/>
            <a:ext cx="475488" cy="475488"/>
          </a:xfrm>
          <a:prstGeom prst="ellipse">
            <a:avLst/>
          </a:prstGeom>
          <a:solidFill>
            <a:srgbClr val="38BDF8"/>
          </a:solidFill>
          <a:ln w="12700">
            <a:solidFill>
              <a:srgbClr val="38BDF8"/>
            </a:solidFill>
            <a:prstDash val="solid"/>
          </a:ln>
        </p:spPr>
      </p:sp>
      <p:pic>
        <p:nvPicPr>
          <p:cNvPr id="30" name="Image 4" descr="preencoded.png">    </p:cNvPr>
          <p:cNvPicPr>
            <a:picLocks noChangeAspect="1"/>
          </p:cNvPicPr>
          <p:nvPr/>
        </p:nvPicPr>
        <p:blipFill>
          <a:blip r:embed="rId5"/>
          <a:stretch>
            <a:fillRect/>
          </a:stretch>
        </p:blipFill>
        <p:spPr>
          <a:xfrm>
            <a:off x="836859" y="5527731"/>
            <a:ext cx="228234" cy="228234"/>
          </a:xfrm>
          <a:prstGeom prst="rect">
            <a:avLst/>
          </a:prstGeom>
        </p:spPr>
      </p:pic>
      <p:sp>
        <p:nvSpPr>
          <p:cNvPr id="31" name="Text 24"/>
          <p:cNvSpPr txBox="1"/>
          <p:nvPr/>
        </p:nvSpPr>
        <p:spPr>
          <a:xfrm>
            <a:off x="1325880" y="5276088"/>
            <a:ext cx="914400" cy="731520"/>
          </a:xfrm>
          <a:prstGeom prst="rect">
            <a:avLst/>
          </a:prstGeom>
          <a:noFill/>
          <a:ln/>
        </p:spPr>
        <p:txBody>
          <a:bodyPr wrap="square" lIns="0" tIns="0" rIns="0" bIns="0" rtlCol="0" anchor="ctr"/>
          <a:lstStyle/>
          <a:p>
            <a:pPr indent="0" marL="0">
              <a:buNone/>
            </a:pPr>
            <a:r>
              <a:rPr lang="en-US" sz="2400" b="1" dirty="0">
                <a:solidFill>
                  <a:srgbClr val="E8EDF2"/>
                </a:solidFill>
                <a:latin typeface="Calibri" pitchFamily="34" charset="0"/>
                <a:ea typeface="Calibri" pitchFamily="34" charset="-122"/>
                <a:cs typeface="Calibri" pitchFamily="34" charset="-120"/>
              </a:rPr>
              <a:t>5%</a:t>
            </a:r>
            <a:endParaRPr lang="en-US" sz="2400" dirty="0"/>
          </a:p>
        </p:txBody>
      </p:sp>
      <p:sp>
        <p:nvSpPr>
          <p:cNvPr id="32" name="Text 25"/>
          <p:cNvSpPr txBox="1"/>
          <p:nvPr/>
        </p:nvSpPr>
        <p:spPr>
          <a:xfrm>
            <a:off x="2240280" y="5349240"/>
            <a:ext cx="4846320" cy="329184"/>
          </a:xfrm>
          <a:prstGeom prst="rect">
            <a:avLst/>
          </a:prstGeom>
          <a:noFill/>
          <a:ln/>
        </p:spPr>
        <p:txBody>
          <a:bodyPr wrap="square" lIns="0" tIns="0" rIns="0" bIns="0" rtlCol="0" anchor="ctr"/>
          <a:lstStyle/>
          <a:p>
            <a:pPr indent="0" marL="0">
              <a:buNone/>
            </a:pPr>
            <a:r>
              <a:rPr lang="en-US" sz="1600" b="1" dirty="0">
                <a:solidFill>
                  <a:srgbClr val="E8EDF2"/>
                </a:solidFill>
                <a:latin typeface="Calibri" pitchFamily="34" charset="0"/>
                <a:ea typeface="Calibri" pitchFamily="34" charset="-122"/>
                <a:cs typeface="Calibri" pitchFamily="34" charset="-120"/>
              </a:rPr>
              <a:t>Cooling access deficit</a:t>
            </a:r>
            <a:endParaRPr lang="en-US" sz="1600" dirty="0"/>
          </a:p>
        </p:txBody>
      </p:sp>
      <p:sp>
        <p:nvSpPr>
          <p:cNvPr id="33" name="Text 26"/>
          <p:cNvSpPr txBox="1"/>
          <p:nvPr/>
        </p:nvSpPr>
        <p:spPr>
          <a:xfrm>
            <a:off x="2240280" y="5660136"/>
            <a:ext cx="4846320" cy="292608"/>
          </a:xfrm>
          <a:prstGeom prst="rect">
            <a:avLst/>
          </a:prstGeom>
          <a:noFill/>
          <a:ln/>
        </p:spPr>
        <p:txBody>
          <a:bodyPr wrap="square" lIns="0" tIns="0" rIns="0" bIns="0" rtlCol="0" anchor="ctr"/>
          <a:lstStyle/>
          <a:p>
            <a:pPr indent="0" marL="0">
              <a:buNone/>
            </a:pPr>
            <a:r>
              <a:rPr lang="en-US" sz="1300" dirty="0">
                <a:solidFill>
                  <a:srgbClr val="9AA6B4"/>
                </a:solidFill>
                <a:latin typeface="Calibri" pitchFamily="34" charset="0"/>
                <a:ea typeface="Calibri" pitchFamily="34" charset="-122"/>
                <a:cs typeface="Calibri" pitchFamily="34" charset="-120"/>
              </a:rPr>
              <a:t>Distance to nearest City cool center</a:t>
            </a:r>
            <a:endParaRPr lang="en-US" sz="1300" dirty="0"/>
          </a:p>
        </p:txBody>
      </p:sp>
      <p:sp>
        <p:nvSpPr>
          <p:cNvPr id="34" name="Shape 27"/>
          <p:cNvSpPr/>
          <p:nvPr/>
        </p:nvSpPr>
        <p:spPr>
          <a:xfrm>
            <a:off x="7635240" y="1874520"/>
            <a:ext cx="4005072" cy="4069080"/>
          </a:xfrm>
          <a:prstGeom prst="roundRect">
            <a:avLst>
              <a:gd name="adj" fmla="val 2740"/>
            </a:avLst>
          </a:prstGeom>
          <a:solidFill>
            <a:srgbClr val="151C25"/>
          </a:solidFill>
          <a:ln w="9525">
            <a:solidFill>
              <a:srgbClr val="2A3441"/>
            </a:solidFill>
            <a:prstDash val="solid"/>
          </a:ln>
        </p:spPr>
      </p:sp>
      <p:sp>
        <p:nvSpPr>
          <p:cNvPr id="35" name="Text 28"/>
          <p:cNvSpPr txBox="1"/>
          <p:nvPr/>
        </p:nvSpPr>
        <p:spPr>
          <a:xfrm>
            <a:off x="7955280" y="2103120"/>
            <a:ext cx="3291840" cy="365760"/>
          </a:xfrm>
          <a:prstGeom prst="rect">
            <a:avLst/>
          </a:prstGeom>
          <a:noFill/>
          <a:ln/>
        </p:spPr>
        <p:txBody>
          <a:bodyPr wrap="square" lIns="0" tIns="0" rIns="0" bIns="0" rtlCol="0" anchor="ctr"/>
          <a:lstStyle/>
          <a:p>
            <a:pPr indent="0" marL="0">
              <a:buNone/>
            </a:pPr>
            <a:r>
              <a:rPr lang="en-US" sz="1800" b="1" dirty="0">
                <a:solidFill>
                  <a:srgbClr val="E8EDF2"/>
                </a:solidFill>
                <a:latin typeface="Calibri" pitchFamily="34" charset="0"/>
                <a:ea typeface="Calibri" pitchFamily="34" charset="-122"/>
                <a:cs typeface="Calibri" pitchFamily="34" charset="-120"/>
              </a:rPr>
              <a:t>Risk tiers</a:t>
            </a:r>
            <a:endParaRPr lang="en-US" sz="1800" dirty="0"/>
          </a:p>
        </p:txBody>
      </p:sp>
      <p:sp>
        <p:nvSpPr>
          <p:cNvPr id="36" name="Shape 29"/>
          <p:cNvSpPr/>
          <p:nvPr/>
        </p:nvSpPr>
        <p:spPr>
          <a:xfrm>
            <a:off x="7955280" y="2724912"/>
            <a:ext cx="219456" cy="219456"/>
          </a:xfrm>
          <a:prstGeom prst="ellipse">
            <a:avLst/>
          </a:prstGeom>
          <a:solidFill>
            <a:srgbClr val="E5383B"/>
          </a:solidFill>
          <a:ln w="12700">
            <a:solidFill>
              <a:srgbClr val="E5383B"/>
            </a:solidFill>
            <a:prstDash val="solid"/>
          </a:ln>
        </p:spPr>
      </p:sp>
      <p:sp>
        <p:nvSpPr>
          <p:cNvPr id="37" name="Text 30"/>
          <p:cNvSpPr txBox="1"/>
          <p:nvPr/>
        </p:nvSpPr>
        <p:spPr>
          <a:xfrm>
            <a:off x="8321040" y="2651760"/>
            <a:ext cx="1645920" cy="365760"/>
          </a:xfrm>
          <a:prstGeom prst="rect">
            <a:avLst/>
          </a:prstGeom>
          <a:noFill/>
          <a:ln/>
        </p:spPr>
        <p:txBody>
          <a:bodyPr wrap="square" lIns="0" tIns="0" rIns="0" bIns="0" rtlCol="0" anchor="ctr"/>
          <a:lstStyle/>
          <a:p>
            <a:pPr indent="0" marL="0">
              <a:buNone/>
            </a:pPr>
            <a:r>
              <a:rPr lang="en-US" sz="1500" dirty="0">
                <a:solidFill>
                  <a:srgbClr val="E8EDF2"/>
                </a:solidFill>
                <a:latin typeface="Calibri" pitchFamily="34" charset="0"/>
                <a:ea typeface="Calibri" pitchFamily="34" charset="-122"/>
                <a:cs typeface="Calibri" pitchFamily="34" charset="-120"/>
              </a:rPr>
              <a:t>Critical</a:t>
            </a:r>
            <a:endParaRPr lang="en-US" sz="1500" dirty="0"/>
          </a:p>
        </p:txBody>
      </p:sp>
      <p:sp>
        <p:nvSpPr>
          <p:cNvPr id="38" name="Text 31"/>
          <p:cNvSpPr txBox="1"/>
          <p:nvPr/>
        </p:nvSpPr>
        <p:spPr>
          <a:xfrm>
            <a:off x="9966960" y="2651760"/>
            <a:ext cx="1371600" cy="365760"/>
          </a:xfrm>
          <a:prstGeom prst="rect">
            <a:avLst/>
          </a:prstGeom>
          <a:noFill/>
          <a:ln/>
        </p:spPr>
        <p:txBody>
          <a:bodyPr wrap="square" lIns="0" tIns="0" rIns="0" bIns="0" rtlCol="0" anchor="ctr"/>
          <a:lstStyle/>
          <a:p>
            <a:pPr algn="r" indent="0" marL="0">
              <a:buNone/>
            </a:pPr>
            <a:r>
              <a:rPr lang="en-US" sz="1500" dirty="0">
                <a:solidFill>
                  <a:srgbClr val="9AA6B4"/>
                </a:solidFill>
                <a:latin typeface="Calibri" pitchFamily="34" charset="0"/>
                <a:ea typeface="Calibri" pitchFamily="34" charset="-122"/>
                <a:cs typeface="Calibri" pitchFamily="34" charset="-120"/>
              </a:rPr>
              <a:t>≥ 75</a:t>
            </a:r>
            <a:endParaRPr lang="en-US" sz="1500" dirty="0"/>
          </a:p>
        </p:txBody>
      </p:sp>
      <p:sp>
        <p:nvSpPr>
          <p:cNvPr id="39" name="Shape 32"/>
          <p:cNvSpPr/>
          <p:nvPr/>
        </p:nvSpPr>
        <p:spPr>
          <a:xfrm>
            <a:off x="7955280" y="3200400"/>
            <a:ext cx="219456" cy="219456"/>
          </a:xfrm>
          <a:prstGeom prst="ellipse">
            <a:avLst/>
          </a:prstGeom>
          <a:solidFill>
            <a:srgbClr val="FF8A2A"/>
          </a:solidFill>
          <a:ln w="12700">
            <a:solidFill>
              <a:srgbClr val="FF8A2A"/>
            </a:solidFill>
            <a:prstDash val="solid"/>
          </a:ln>
        </p:spPr>
      </p:sp>
      <p:sp>
        <p:nvSpPr>
          <p:cNvPr id="40" name="Text 33"/>
          <p:cNvSpPr txBox="1"/>
          <p:nvPr/>
        </p:nvSpPr>
        <p:spPr>
          <a:xfrm>
            <a:off x="8321040" y="3127248"/>
            <a:ext cx="1645920" cy="365760"/>
          </a:xfrm>
          <a:prstGeom prst="rect">
            <a:avLst/>
          </a:prstGeom>
          <a:noFill/>
          <a:ln/>
        </p:spPr>
        <p:txBody>
          <a:bodyPr wrap="square" lIns="0" tIns="0" rIns="0" bIns="0" rtlCol="0" anchor="ctr"/>
          <a:lstStyle/>
          <a:p>
            <a:pPr indent="0" marL="0">
              <a:buNone/>
            </a:pPr>
            <a:r>
              <a:rPr lang="en-US" sz="1500" dirty="0">
                <a:solidFill>
                  <a:srgbClr val="E8EDF2"/>
                </a:solidFill>
                <a:latin typeface="Calibri" pitchFamily="34" charset="0"/>
                <a:ea typeface="Calibri" pitchFamily="34" charset="-122"/>
                <a:cs typeface="Calibri" pitchFamily="34" charset="-120"/>
              </a:rPr>
              <a:t>High</a:t>
            </a:r>
            <a:endParaRPr lang="en-US" sz="1500" dirty="0"/>
          </a:p>
        </p:txBody>
      </p:sp>
      <p:sp>
        <p:nvSpPr>
          <p:cNvPr id="41" name="Text 34"/>
          <p:cNvSpPr txBox="1"/>
          <p:nvPr/>
        </p:nvSpPr>
        <p:spPr>
          <a:xfrm>
            <a:off x="9966960" y="3127248"/>
            <a:ext cx="1371600" cy="365760"/>
          </a:xfrm>
          <a:prstGeom prst="rect">
            <a:avLst/>
          </a:prstGeom>
          <a:noFill/>
          <a:ln/>
        </p:spPr>
        <p:txBody>
          <a:bodyPr wrap="square" lIns="0" tIns="0" rIns="0" bIns="0" rtlCol="0" anchor="ctr"/>
          <a:lstStyle/>
          <a:p>
            <a:pPr algn="r" indent="0" marL="0">
              <a:buNone/>
            </a:pPr>
            <a:r>
              <a:rPr lang="en-US" sz="1500" dirty="0">
                <a:solidFill>
                  <a:srgbClr val="9AA6B4"/>
                </a:solidFill>
                <a:latin typeface="Calibri" pitchFamily="34" charset="0"/>
                <a:ea typeface="Calibri" pitchFamily="34" charset="-122"/>
                <a:cs typeface="Calibri" pitchFamily="34" charset="-120"/>
              </a:rPr>
              <a:t>60–74</a:t>
            </a:r>
            <a:endParaRPr lang="en-US" sz="1500" dirty="0"/>
          </a:p>
        </p:txBody>
      </p:sp>
      <p:sp>
        <p:nvSpPr>
          <p:cNvPr id="42" name="Shape 35"/>
          <p:cNvSpPr/>
          <p:nvPr/>
        </p:nvSpPr>
        <p:spPr>
          <a:xfrm>
            <a:off x="7955280" y="3675888"/>
            <a:ext cx="219456" cy="219456"/>
          </a:xfrm>
          <a:prstGeom prst="ellipse">
            <a:avLst/>
          </a:prstGeom>
          <a:solidFill>
            <a:srgbClr val="F5C542"/>
          </a:solidFill>
          <a:ln w="12700">
            <a:solidFill>
              <a:srgbClr val="F5C542"/>
            </a:solidFill>
            <a:prstDash val="solid"/>
          </a:ln>
        </p:spPr>
      </p:sp>
      <p:sp>
        <p:nvSpPr>
          <p:cNvPr id="43" name="Text 36"/>
          <p:cNvSpPr txBox="1"/>
          <p:nvPr/>
        </p:nvSpPr>
        <p:spPr>
          <a:xfrm>
            <a:off x="8321040" y="3602736"/>
            <a:ext cx="1645920" cy="365760"/>
          </a:xfrm>
          <a:prstGeom prst="rect">
            <a:avLst/>
          </a:prstGeom>
          <a:noFill/>
          <a:ln/>
        </p:spPr>
        <p:txBody>
          <a:bodyPr wrap="square" lIns="0" tIns="0" rIns="0" bIns="0" rtlCol="0" anchor="ctr"/>
          <a:lstStyle/>
          <a:p>
            <a:pPr indent="0" marL="0">
              <a:buNone/>
            </a:pPr>
            <a:r>
              <a:rPr lang="en-US" sz="1500" dirty="0">
                <a:solidFill>
                  <a:srgbClr val="E8EDF2"/>
                </a:solidFill>
                <a:latin typeface="Calibri" pitchFamily="34" charset="0"/>
                <a:ea typeface="Calibri" pitchFamily="34" charset="-122"/>
                <a:cs typeface="Calibri" pitchFamily="34" charset="-120"/>
              </a:rPr>
              <a:t>Moderate</a:t>
            </a:r>
            <a:endParaRPr lang="en-US" sz="1500" dirty="0"/>
          </a:p>
        </p:txBody>
      </p:sp>
      <p:sp>
        <p:nvSpPr>
          <p:cNvPr id="44" name="Text 37"/>
          <p:cNvSpPr txBox="1"/>
          <p:nvPr/>
        </p:nvSpPr>
        <p:spPr>
          <a:xfrm>
            <a:off x="9966960" y="3602736"/>
            <a:ext cx="1371600" cy="365760"/>
          </a:xfrm>
          <a:prstGeom prst="rect">
            <a:avLst/>
          </a:prstGeom>
          <a:noFill/>
          <a:ln/>
        </p:spPr>
        <p:txBody>
          <a:bodyPr wrap="square" lIns="0" tIns="0" rIns="0" bIns="0" rtlCol="0" anchor="ctr"/>
          <a:lstStyle/>
          <a:p>
            <a:pPr algn="r" indent="0" marL="0">
              <a:buNone/>
            </a:pPr>
            <a:r>
              <a:rPr lang="en-US" sz="1500" dirty="0">
                <a:solidFill>
                  <a:srgbClr val="9AA6B4"/>
                </a:solidFill>
                <a:latin typeface="Calibri" pitchFamily="34" charset="0"/>
                <a:ea typeface="Calibri" pitchFamily="34" charset="-122"/>
                <a:cs typeface="Calibri" pitchFamily="34" charset="-120"/>
              </a:rPr>
              <a:t>45–59</a:t>
            </a:r>
            <a:endParaRPr lang="en-US" sz="1500" dirty="0"/>
          </a:p>
        </p:txBody>
      </p:sp>
      <p:sp>
        <p:nvSpPr>
          <p:cNvPr id="45" name="Shape 38"/>
          <p:cNvSpPr/>
          <p:nvPr/>
        </p:nvSpPr>
        <p:spPr>
          <a:xfrm>
            <a:off x="7955280" y="4151376"/>
            <a:ext cx="219456" cy="219456"/>
          </a:xfrm>
          <a:prstGeom prst="ellipse">
            <a:avLst/>
          </a:prstGeom>
          <a:solidFill>
            <a:srgbClr val="2FBF71"/>
          </a:solidFill>
          <a:ln w="12700">
            <a:solidFill>
              <a:srgbClr val="2FBF71"/>
            </a:solidFill>
            <a:prstDash val="solid"/>
          </a:ln>
        </p:spPr>
      </p:sp>
      <p:sp>
        <p:nvSpPr>
          <p:cNvPr id="46" name="Text 39"/>
          <p:cNvSpPr txBox="1"/>
          <p:nvPr/>
        </p:nvSpPr>
        <p:spPr>
          <a:xfrm>
            <a:off x="8321040" y="4078224"/>
            <a:ext cx="1645920" cy="365760"/>
          </a:xfrm>
          <a:prstGeom prst="rect">
            <a:avLst/>
          </a:prstGeom>
          <a:noFill/>
          <a:ln/>
        </p:spPr>
        <p:txBody>
          <a:bodyPr wrap="square" lIns="0" tIns="0" rIns="0" bIns="0" rtlCol="0" anchor="ctr"/>
          <a:lstStyle/>
          <a:p>
            <a:pPr indent="0" marL="0">
              <a:buNone/>
            </a:pPr>
            <a:r>
              <a:rPr lang="en-US" sz="1500" dirty="0">
                <a:solidFill>
                  <a:srgbClr val="E8EDF2"/>
                </a:solidFill>
                <a:latin typeface="Calibri" pitchFamily="34" charset="0"/>
                <a:ea typeface="Calibri" pitchFamily="34" charset="-122"/>
                <a:cs typeface="Calibri" pitchFamily="34" charset="-120"/>
              </a:rPr>
              <a:t>Lower</a:t>
            </a:r>
            <a:endParaRPr lang="en-US" sz="1500" dirty="0"/>
          </a:p>
        </p:txBody>
      </p:sp>
      <p:sp>
        <p:nvSpPr>
          <p:cNvPr id="47" name="Text 40"/>
          <p:cNvSpPr txBox="1"/>
          <p:nvPr/>
        </p:nvSpPr>
        <p:spPr>
          <a:xfrm>
            <a:off x="9966960" y="4078224"/>
            <a:ext cx="1371600" cy="365760"/>
          </a:xfrm>
          <a:prstGeom prst="rect">
            <a:avLst/>
          </a:prstGeom>
          <a:noFill/>
          <a:ln/>
        </p:spPr>
        <p:txBody>
          <a:bodyPr wrap="square" lIns="0" tIns="0" rIns="0" bIns="0" rtlCol="0" anchor="ctr"/>
          <a:lstStyle/>
          <a:p>
            <a:pPr algn="r" indent="0" marL="0">
              <a:buNone/>
            </a:pPr>
            <a:r>
              <a:rPr lang="en-US" sz="1500" dirty="0">
                <a:solidFill>
                  <a:srgbClr val="9AA6B4"/>
                </a:solidFill>
                <a:latin typeface="Calibri" pitchFamily="34" charset="0"/>
                <a:ea typeface="Calibri" pitchFamily="34" charset="-122"/>
                <a:cs typeface="Calibri" pitchFamily="34" charset="-120"/>
              </a:rPr>
              <a:t>&lt; 45</a:t>
            </a:r>
            <a:endParaRPr lang="en-US" sz="1500" dirty="0"/>
          </a:p>
        </p:txBody>
      </p:sp>
      <p:sp>
        <p:nvSpPr>
          <p:cNvPr id="48" name="Text 41"/>
          <p:cNvSpPr txBox="1"/>
          <p:nvPr/>
        </p:nvSpPr>
        <p:spPr>
          <a:xfrm>
            <a:off x="7955280" y="4663440"/>
            <a:ext cx="3429000" cy="1143000"/>
          </a:xfrm>
          <a:prstGeom prst="rect">
            <a:avLst/>
          </a:prstGeom>
          <a:noFill/>
          <a:ln/>
        </p:spPr>
        <p:txBody>
          <a:bodyPr wrap="square" lIns="0" tIns="0" rIns="0" bIns="0" rtlCol="0" anchor="t"/>
          <a:lstStyle/>
          <a:p>
            <a:pPr indent="0" marL="0">
              <a:buNone/>
            </a:pPr>
            <a:r>
              <a:rPr lang="en-US" sz="1300" dirty="0">
                <a:solidFill>
                  <a:srgbClr val="9AA6B4"/>
                </a:solidFill>
                <a:latin typeface="Calibri" pitchFamily="34" charset="0"/>
                <a:ea typeface="Calibri" pitchFamily="34" charset="-122"/>
                <a:cs typeface="Calibri" pitchFamily="34" charset="-120"/>
              </a:rPr>
              <a:t>A decision-support composite, not a medical prediction. Weights are adjustable in the app; costs and effect sizes are labeled planning assumptions.</a:t>
            </a:r>
            <a:endParaRPr lang="en-US" sz="1300" dirty="0"/>
          </a:p>
        </p:txBody>
      </p:sp>
      <p:sp>
        <p:nvSpPr>
          <p:cNvPr id="50" name="Text 42"/>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1000" dirty="0">
                <a:solidFill>
                  <a:srgbClr val="6B7788"/>
                </a:solidFill>
                <a:latin typeface="Calibri" pitchFamily="34" charset="0"/>
                <a:ea typeface="Calibri" pitchFamily="34" charset="-122"/>
                <a:cs typeface="Calibri" pitchFamily="34" charset="-120"/>
              </a:rPr>
              <a:t>HeatShield 26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D12"/>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200" b="1" spc="300" kern="0" dirty="0">
                <a:solidFill>
                  <a:srgbClr val="FF7A1A"/>
                </a:solidFill>
                <a:latin typeface="Calibri" pitchFamily="34" charset="0"/>
                <a:ea typeface="Calibri" pitchFamily="34" charset="-122"/>
                <a:cs typeface="Calibri" pitchFamily="34" charset="-120"/>
              </a:rPr>
              <a:t>LIVE DEMO · 1</a:t>
            </a:r>
            <a:endParaRPr lang="en-US" sz="1200" dirty="0"/>
          </a:p>
        </p:txBody>
      </p:sp>
      <p:sp>
        <p:nvSpPr>
          <p:cNvPr id="3" name="Text 1"/>
          <p:cNvSpPr txBox="1"/>
          <p:nvPr/>
        </p:nvSpPr>
        <p:spPr>
          <a:xfrm>
            <a:off x="548640" y="749808"/>
            <a:ext cx="4114800" cy="914400"/>
          </a:xfrm>
          <a:prstGeom prst="rect">
            <a:avLst/>
          </a:prstGeom>
          <a:noFill/>
          <a:ln/>
        </p:spPr>
        <p:txBody>
          <a:bodyPr wrap="square" lIns="0" tIns="0" rIns="0" bIns="0" rtlCol="0" anchor="t"/>
          <a:lstStyle/>
          <a:p>
            <a:pPr indent="0" marL="0">
              <a:buNone/>
            </a:pPr>
            <a:r>
              <a:rPr lang="en-US" sz="2800" b="1" dirty="0">
                <a:solidFill>
                  <a:srgbClr val="E8EDF2"/>
                </a:solidFill>
                <a:latin typeface="Calibri" pitchFamily="34" charset="0"/>
                <a:ea typeface="Calibri" pitchFamily="34" charset="-122"/>
                <a:cs typeface="Calibri" pitchFamily="34" charset="-120"/>
              </a:rPr>
              <a:t>Game day: 68,000 fans, 98°F afternoon</a:t>
            </a:r>
            <a:endParaRPr lang="en-US" sz="2800" dirty="0"/>
          </a:p>
        </p:txBody>
      </p:sp>
      <p:sp>
        <p:nvSpPr>
          <p:cNvPr id="4" name="Shape 2"/>
          <p:cNvSpPr/>
          <p:nvPr/>
        </p:nvSpPr>
        <p:spPr>
          <a:xfrm>
            <a:off x="4837176" y="512064"/>
            <a:ext cx="6876288" cy="4338828"/>
          </a:xfrm>
          <a:prstGeom prst="roundRect">
            <a:avLst>
              <a:gd name="adj" fmla="val 2107"/>
            </a:avLst>
          </a:prstGeom>
          <a:solidFill>
            <a:srgbClr val="151C25"/>
          </a:solidFill>
          <a:ln w="9525">
            <a:solidFill>
              <a:srgbClr val="2A3441"/>
            </a:solidFill>
            <a:prstDash val="solid"/>
          </a:ln>
        </p:spPr>
      </p:sp>
      <p:pic>
        <p:nvPicPr>
          <p:cNvPr id="5" name="Image 0" descr="C:\Users\Stint\Desktop\Projects\heatshield26\docs\screenshots\02-planner-risk.png">    </p:cNvPr>
          <p:cNvPicPr>
            <a:picLocks noChangeAspect="1"/>
          </p:cNvPicPr>
          <p:nvPr/>
        </p:nvPicPr>
        <p:blipFill>
          <a:blip r:embed="rId1"/>
          <a:stretch>
            <a:fillRect/>
          </a:stretch>
        </p:blipFill>
        <p:spPr>
          <a:xfrm>
            <a:off x="4892040" y="566928"/>
            <a:ext cx="6766560" cy="4229100"/>
          </a:xfrm>
          <a:prstGeom prst="rect">
            <a:avLst/>
          </a:prstGeom>
        </p:spPr>
      </p:pic>
      <p:sp>
        <p:nvSpPr>
          <p:cNvPr id="6" name="Text 3"/>
          <p:cNvSpPr txBox="1"/>
          <p:nvPr/>
        </p:nvSpPr>
        <p:spPr>
          <a:xfrm>
            <a:off x="548640" y="2057400"/>
            <a:ext cx="4023360" cy="594360"/>
          </a:xfrm>
          <a:prstGeom prst="rect">
            <a:avLst/>
          </a:prstGeom>
          <a:noFill/>
          <a:ln/>
        </p:spPr>
        <p:txBody>
          <a:bodyPr wrap="square" lIns="0" tIns="0" rIns="0" bIns="0" rtlCol="0" anchor="ctr"/>
          <a:lstStyle/>
          <a:p>
            <a:pPr indent="0" marL="0">
              <a:buNone/>
            </a:pPr>
            <a:r>
              <a:rPr lang="en-US" sz="3600" b="1" dirty="0">
                <a:solidFill>
                  <a:srgbClr val="E5383B"/>
                </a:solidFill>
                <a:latin typeface="Calibri" pitchFamily="34" charset="0"/>
                <a:ea typeface="Calibri" pitchFamily="34" charset="-122"/>
                <a:cs typeface="Calibri" pitchFamily="34" charset="-120"/>
              </a:rPr>
              <a:t>5</a:t>
            </a:r>
            <a:endParaRPr lang="en-US" sz="3600" dirty="0"/>
          </a:p>
        </p:txBody>
      </p:sp>
      <p:sp>
        <p:nvSpPr>
          <p:cNvPr id="7" name="Text 4"/>
          <p:cNvSpPr txBox="1"/>
          <p:nvPr/>
        </p:nvSpPr>
        <p:spPr>
          <a:xfrm>
            <a:off x="548640" y="2660904"/>
            <a:ext cx="4023360" cy="685800"/>
          </a:xfrm>
          <a:prstGeom prst="rect">
            <a:avLst/>
          </a:prstGeom>
          <a:noFill/>
          <a:ln/>
        </p:spPr>
        <p:txBody>
          <a:bodyPr wrap="square" lIns="0" tIns="0" rIns="0" bIns="0" rtlCol="0" anchor="t"/>
          <a:lstStyle/>
          <a:p>
            <a:pPr indent="0" marL="0">
              <a:buNone/>
            </a:pPr>
            <a:r>
              <a:rPr lang="en-US" sz="1400" dirty="0">
                <a:solidFill>
                  <a:srgbClr val="9AA6B4"/>
                </a:solidFill>
                <a:latin typeface="Calibri" pitchFamily="34" charset="0"/>
                <a:ea typeface="Calibri" pitchFamily="34" charset="-122"/>
                <a:cs typeface="Calibri" pitchFamily="34" charset="-120"/>
              </a:rPr>
              <a:t>critical zones — on NRG Park’s Yellow, Green, Purple &amp; Teal lots at the stadium edge</a:t>
            </a:r>
            <a:endParaRPr lang="en-US" sz="1400" dirty="0"/>
          </a:p>
        </p:txBody>
      </p:sp>
      <p:sp>
        <p:nvSpPr>
          <p:cNvPr id="8" name="Text 5"/>
          <p:cNvSpPr txBox="1"/>
          <p:nvPr/>
        </p:nvSpPr>
        <p:spPr>
          <a:xfrm>
            <a:off x="548640" y="3429000"/>
            <a:ext cx="4023360" cy="594360"/>
          </a:xfrm>
          <a:prstGeom prst="rect">
            <a:avLst/>
          </a:prstGeom>
          <a:noFill/>
          <a:ln/>
        </p:spPr>
        <p:txBody>
          <a:bodyPr wrap="square" lIns="0" tIns="0" rIns="0" bIns="0" rtlCol="0" anchor="ctr"/>
          <a:lstStyle/>
          <a:p>
            <a:pPr indent="0" marL="0">
              <a:buNone/>
            </a:pPr>
            <a:r>
              <a:rPr lang="en-US" sz="3600" b="1" dirty="0">
                <a:solidFill>
                  <a:srgbClr val="FF8A2A"/>
                </a:solidFill>
                <a:latin typeface="Calibri" pitchFamily="34" charset="0"/>
                <a:ea typeface="Calibri" pitchFamily="34" charset="-122"/>
                <a:cs typeface="Calibri" pitchFamily="34" charset="-120"/>
              </a:rPr>
              <a:t>79</a:t>
            </a:r>
            <a:endParaRPr lang="en-US" sz="3600" dirty="0"/>
          </a:p>
        </p:txBody>
      </p:sp>
      <p:sp>
        <p:nvSpPr>
          <p:cNvPr id="9" name="Text 6"/>
          <p:cNvSpPr txBox="1"/>
          <p:nvPr/>
        </p:nvSpPr>
        <p:spPr>
          <a:xfrm>
            <a:off x="548640" y="4032504"/>
            <a:ext cx="4023360" cy="685800"/>
          </a:xfrm>
          <a:prstGeom prst="rect">
            <a:avLst/>
          </a:prstGeom>
          <a:noFill/>
          <a:ln/>
        </p:spPr>
        <p:txBody>
          <a:bodyPr wrap="square" lIns="0" tIns="0" rIns="0" bIns="0" rtlCol="0" anchor="t"/>
          <a:lstStyle/>
          <a:p>
            <a:pPr indent="0" marL="0">
              <a:buNone/>
            </a:pPr>
            <a:r>
              <a:rPr lang="en-US" sz="1400" dirty="0">
                <a:solidFill>
                  <a:srgbClr val="9AA6B4"/>
                </a:solidFill>
                <a:latin typeface="Calibri" pitchFamily="34" charset="0"/>
                <a:ea typeface="Calibri" pitchFamily="34" charset="-122"/>
                <a:cs typeface="Calibri" pitchFamily="34" charset="-120"/>
              </a:rPr>
              <a:t>high-or-critical zones, including the Stadium Park/Astrodome and Fannin South rail stations</a:t>
            </a:r>
            <a:endParaRPr lang="en-US" sz="1400" dirty="0"/>
          </a:p>
        </p:txBody>
      </p:sp>
      <p:sp>
        <p:nvSpPr>
          <p:cNvPr id="10" name="Text 7"/>
          <p:cNvSpPr txBox="1"/>
          <p:nvPr/>
        </p:nvSpPr>
        <p:spPr>
          <a:xfrm>
            <a:off x="548640" y="4800600"/>
            <a:ext cx="4023360" cy="594360"/>
          </a:xfrm>
          <a:prstGeom prst="rect">
            <a:avLst/>
          </a:prstGeom>
          <a:noFill/>
          <a:ln/>
        </p:spPr>
        <p:txBody>
          <a:bodyPr wrap="square" lIns="0" tIns="0" rIns="0" bIns="0" rtlCol="0" anchor="ctr"/>
          <a:lstStyle/>
          <a:p>
            <a:pPr indent="0" marL="0">
              <a:buNone/>
            </a:pPr>
            <a:r>
              <a:rPr lang="en-US" sz="3600" b="1" dirty="0">
                <a:solidFill>
                  <a:srgbClr val="E8EDF2"/>
                </a:solidFill>
                <a:latin typeface="Calibri" pitchFamily="34" charset="0"/>
                <a:ea typeface="Calibri" pitchFamily="34" charset="-122"/>
                <a:cs typeface="Calibri" pitchFamily="34" charset="-120"/>
              </a:rPr>
              <a:t>18,978</a:t>
            </a:r>
            <a:endParaRPr lang="en-US" sz="3600" dirty="0"/>
          </a:p>
        </p:txBody>
      </p:sp>
      <p:sp>
        <p:nvSpPr>
          <p:cNvPr id="11" name="Text 8"/>
          <p:cNvSpPr txBox="1"/>
          <p:nvPr/>
        </p:nvSpPr>
        <p:spPr>
          <a:xfrm>
            <a:off x="548640" y="5404104"/>
            <a:ext cx="4023360" cy="685800"/>
          </a:xfrm>
          <a:prstGeom prst="rect">
            <a:avLst/>
          </a:prstGeom>
          <a:noFill/>
          <a:ln/>
        </p:spPr>
        <p:txBody>
          <a:bodyPr wrap="square" lIns="0" tIns="0" rIns="0" bIns="0" rtlCol="0" anchor="t"/>
          <a:lstStyle/>
          <a:p>
            <a:pPr indent="0" marL="0">
              <a:buNone/>
            </a:pPr>
            <a:r>
              <a:rPr lang="en-US" sz="1400" dirty="0">
                <a:solidFill>
                  <a:srgbClr val="9AA6B4"/>
                </a:solidFill>
                <a:latin typeface="Calibri" pitchFamily="34" charset="0"/>
                <a:ea typeface="Calibri" pitchFamily="34" charset="-122"/>
                <a:cs typeface="Calibri" pitchFamily="34" charset="-120"/>
              </a:rPr>
              <a:t>visitors whose modeled route crosses a critical zone</a:t>
            </a:r>
            <a:endParaRPr lang="en-US" sz="1400" dirty="0"/>
          </a:p>
        </p:txBody>
      </p:sp>
      <p:sp>
        <p:nvSpPr>
          <p:cNvPr id="12" name="Text 9"/>
          <p:cNvSpPr txBox="1"/>
          <p:nvPr/>
        </p:nvSpPr>
        <p:spPr>
          <a:xfrm>
            <a:off x="4892040" y="4892040"/>
            <a:ext cx="6766560" cy="274320"/>
          </a:xfrm>
          <a:prstGeom prst="rect">
            <a:avLst/>
          </a:prstGeom>
          <a:noFill/>
          <a:ln/>
        </p:spPr>
        <p:txBody>
          <a:bodyPr wrap="square" lIns="0" tIns="0" rIns="0" bIns="0" rtlCol="0" anchor="ctr"/>
          <a:lstStyle/>
          <a:p>
            <a:pPr indent="0" marL="0">
              <a:buNone/>
            </a:pPr>
            <a:r>
              <a:rPr lang="en-US" sz="1100" dirty="0">
                <a:solidFill>
                  <a:srgbClr val="6B7788"/>
                </a:solidFill>
                <a:latin typeface="Calibri" pitchFamily="34" charset="0"/>
                <a:ea typeface="Calibri" pitchFamily="34" charset="-122"/>
                <a:cs typeface="Calibri" pitchFamily="34" charset="-120"/>
              </a:rPr>
              <a:t>Screenshot of the live planner — switch to the app here.</a:t>
            </a:r>
            <a:endParaRPr lang="en-US" sz="1100" dirty="0"/>
          </a:p>
        </p:txBody>
      </p:sp>
      <p:sp>
        <p:nvSpPr>
          <p:cNvPr id="13" name="Shape 10"/>
          <p:cNvSpPr/>
          <p:nvPr/>
        </p:nvSpPr>
        <p:spPr>
          <a:xfrm>
            <a:off x="4892040" y="5349240"/>
            <a:ext cx="6766560" cy="960120"/>
          </a:xfrm>
          <a:prstGeom prst="roundRect">
            <a:avLst>
              <a:gd name="adj" fmla="val 11429"/>
            </a:avLst>
          </a:prstGeom>
          <a:solidFill>
            <a:srgbClr val="1E1712"/>
          </a:solidFill>
          <a:ln w="9525">
            <a:solidFill>
              <a:srgbClr val="2A3441"/>
            </a:solidFill>
            <a:prstDash val="solid"/>
          </a:ln>
        </p:spPr>
      </p:sp>
      <p:sp>
        <p:nvSpPr>
          <p:cNvPr id="14" name="Text 11"/>
          <p:cNvSpPr txBox="1"/>
          <p:nvPr/>
        </p:nvSpPr>
        <p:spPr>
          <a:xfrm>
            <a:off x="5166360" y="5349240"/>
            <a:ext cx="6309360" cy="960120"/>
          </a:xfrm>
          <a:prstGeom prst="rect">
            <a:avLst/>
          </a:prstGeom>
          <a:noFill/>
          <a:ln/>
        </p:spPr>
        <p:txBody>
          <a:bodyPr wrap="square" lIns="0" tIns="0" rIns="0" bIns="0" rtlCol="0" anchor="ctr"/>
          <a:lstStyle/>
          <a:p>
            <a:pPr indent="0" marL="0">
              <a:buNone/>
            </a:pPr>
            <a:r>
              <a:rPr lang="en-US" sz="1400" b="1" dirty="0">
                <a:solidFill>
                  <a:srgbClr val="FF7A1A"/>
                </a:solidFill>
                <a:latin typeface="Calibri" pitchFamily="34" charset="0"/>
                <a:ea typeface="Calibri" pitchFamily="34" charset="-122"/>
                <a:cs typeface="Calibri" pitchFamily="34" charset="-120"/>
              </a:rPr>
              <a:t>Demo move: </a:t>
            </a:r>
            <a:pPr indent="0" marL="0">
              <a:buNone/>
            </a:pPr>
            <a:r>
              <a:rPr lang="en-US" sz="1400" dirty="0">
                <a:solidFill>
                  <a:srgbClr val="E8EDF2"/>
                </a:solidFill>
                <a:latin typeface="Calibri" pitchFamily="34" charset="0"/>
                <a:ea typeface="Calibri" pitchFamily="34" charset="-122"/>
                <a:cs typeface="Calibri" pitchFamily="34" charset="-120"/>
              </a:rPr>
              <a:t>drag the temperature to 88°F (risk collapses), back to 98°F; toggle 3D; switch the layer to Crowd and show modeled routes.</a:t>
            </a:r>
            <a:endParaRPr lang="en-US" sz="1400" dirty="0"/>
          </a:p>
        </p:txBody>
      </p:sp>
      <p:sp>
        <p:nvSpPr>
          <p:cNvPr id="16" name="Text 12"/>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1000" dirty="0">
                <a:solidFill>
                  <a:srgbClr val="6B7788"/>
                </a:solidFill>
                <a:latin typeface="Calibri" pitchFamily="34" charset="0"/>
                <a:ea typeface="Calibri" pitchFamily="34" charset="-122"/>
                <a:cs typeface="Calibri" pitchFamily="34" charset="-120"/>
              </a:rPr>
              <a:t>HeatShield 26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D12"/>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200" b="1" spc="300" kern="0" dirty="0">
                <a:solidFill>
                  <a:srgbClr val="FF7A1A"/>
                </a:solidFill>
                <a:latin typeface="Calibri" pitchFamily="34" charset="0"/>
                <a:ea typeface="Calibri" pitchFamily="34" charset="-122"/>
                <a:cs typeface="Calibri" pitchFamily="34" charset="-120"/>
              </a:rPr>
              <a:t>LIVE DEMO · 2</a:t>
            </a:r>
            <a:endParaRPr lang="en-US" sz="1200" dirty="0"/>
          </a:p>
        </p:txBody>
      </p:sp>
      <p:sp>
        <p:nvSpPr>
          <p:cNvPr id="3" name="Text 1"/>
          <p:cNvSpPr txBox="1"/>
          <p:nvPr/>
        </p:nvSpPr>
        <p:spPr>
          <a:xfrm>
            <a:off x="548640" y="749808"/>
            <a:ext cx="4114800" cy="914400"/>
          </a:xfrm>
          <a:prstGeom prst="rect">
            <a:avLst/>
          </a:prstGeom>
          <a:noFill/>
          <a:ln/>
        </p:spPr>
        <p:txBody>
          <a:bodyPr wrap="square" lIns="0" tIns="0" rIns="0" bIns="0" rtlCol="0" anchor="t"/>
          <a:lstStyle/>
          <a:p>
            <a:pPr indent="0" marL="0">
              <a:buNone/>
            </a:pPr>
            <a:r>
              <a:rPr lang="en-US" sz="2800" b="1" dirty="0">
                <a:solidFill>
                  <a:srgbClr val="E8EDF2"/>
                </a:solidFill>
                <a:latin typeface="Calibri" pitchFamily="34" charset="0"/>
                <a:ea typeface="Calibri" pitchFamily="34" charset="-122"/>
                <a:cs typeface="Calibri" pitchFamily="34" charset="-120"/>
              </a:rPr>
              <a:t>Every score shows its evidence</a:t>
            </a:r>
            <a:endParaRPr lang="en-US" sz="2800" dirty="0"/>
          </a:p>
        </p:txBody>
      </p:sp>
      <p:sp>
        <p:nvSpPr>
          <p:cNvPr id="4" name="Shape 2"/>
          <p:cNvSpPr/>
          <p:nvPr/>
        </p:nvSpPr>
        <p:spPr>
          <a:xfrm>
            <a:off x="4837176" y="512064"/>
            <a:ext cx="6876288" cy="4338828"/>
          </a:xfrm>
          <a:prstGeom prst="roundRect">
            <a:avLst>
              <a:gd name="adj" fmla="val 2107"/>
            </a:avLst>
          </a:prstGeom>
          <a:solidFill>
            <a:srgbClr val="151C25"/>
          </a:solidFill>
          <a:ln w="9525">
            <a:solidFill>
              <a:srgbClr val="2A3441"/>
            </a:solidFill>
            <a:prstDash val="solid"/>
          </a:ln>
        </p:spPr>
      </p:sp>
      <p:pic>
        <p:nvPicPr>
          <p:cNvPr id="5" name="Image 0" descr="C:\Users\Stint\Desktop\Projects\heatshield26\docs\screenshots\03-zone-detail.png">    </p:cNvPr>
          <p:cNvPicPr>
            <a:picLocks noChangeAspect="1"/>
          </p:cNvPicPr>
          <p:nvPr/>
        </p:nvPicPr>
        <p:blipFill>
          <a:blip r:embed="rId1"/>
          <a:stretch>
            <a:fillRect/>
          </a:stretch>
        </p:blipFill>
        <p:spPr>
          <a:xfrm>
            <a:off x="4892040" y="566928"/>
            <a:ext cx="6766560" cy="4229100"/>
          </a:xfrm>
          <a:prstGeom prst="rect">
            <a:avLst/>
          </a:prstGeom>
        </p:spPr>
      </p:pic>
      <p:sp>
        <p:nvSpPr>
          <p:cNvPr id="6" name="Shape 3"/>
          <p:cNvSpPr/>
          <p:nvPr/>
        </p:nvSpPr>
        <p:spPr>
          <a:xfrm>
            <a:off x="548640" y="1965960"/>
            <a:ext cx="502920" cy="502920"/>
          </a:xfrm>
          <a:prstGeom prst="ellipse">
            <a:avLst/>
          </a:prstGeom>
          <a:solidFill>
            <a:srgbClr val="A78BFA"/>
          </a:solidFill>
          <a:ln w="12700">
            <a:solidFill>
              <a:srgbClr val="A78BFA"/>
            </a:solidFill>
            <a:prstDash val="solid"/>
          </a:ln>
        </p:spPr>
      </p:sp>
      <p:pic>
        <p:nvPicPr>
          <p:cNvPr id="7" name="Image 1" descr="preencoded.png">    </p:cNvPr>
          <p:cNvPicPr>
            <a:picLocks noChangeAspect="1"/>
          </p:cNvPicPr>
          <p:nvPr/>
        </p:nvPicPr>
        <p:blipFill>
          <a:blip r:embed="rId2"/>
          <a:stretch>
            <a:fillRect/>
          </a:stretch>
        </p:blipFill>
        <p:spPr>
          <a:xfrm>
            <a:off x="679399" y="2096719"/>
            <a:ext cx="241402" cy="241402"/>
          </a:xfrm>
          <a:prstGeom prst="rect">
            <a:avLst/>
          </a:prstGeom>
        </p:spPr>
      </p:pic>
      <p:sp>
        <p:nvSpPr>
          <p:cNvPr id="8" name="Text 4"/>
          <p:cNvSpPr txBox="1"/>
          <p:nvPr/>
        </p:nvSpPr>
        <p:spPr>
          <a:xfrm>
            <a:off x="1280160" y="1920240"/>
            <a:ext cx="3566160" cy="347472"/>
          </a:xfrm>
          <a:prstGeom prst="rect">
            <a:avLst/>
          </a:prstGeom>
          <a:noFill/>
          <a:ln/>
        </p:spPr>
        <p:txBody>
          <a:bodyPr wrap="square" lIns="0" tIns="0" rIns="0" bIns="0" rtlCol="0" anchor="ctr"/>
          <a:lstStyle/>
          <a:p>
            <a:pPr indent="0" marL="0">
              <a:buNone/>
            </a:pPr>
            <a:r>
              <a:rPr lang="en-US" sz="1700" b="1" dirty="0">
                <a:solidFill>
                  <a:srgbClr val="E8EDF2"/>
                </a:solidFill>
                <a:latin typeface="Calibri" pitchFamily="34" charset="0"/>
                <a:ea typeface="Calibri" pitchFamily="34" charset="-122"/>
                <a:cs typeface="Calibri" pitchFamily="34" charset="-120"/>
              </a:rPr>
              <a:t>Crowd exposure 100/100</a:t>
            </a:r>
            <a:endParaRPr lang="en-US" sz="1700" dirty="0"/>
          </a:p>
        </p:txBody>
      </p:sp>
      <p:sp>
        <p:nvSpPr>
          <p:cNvPr id="9" name="Text 5"/>
          <p:cNvSpPr txBox="1"/>
          <p:nvPr/>
        </p:nvSpPr>
        <p:spPr>
          <a:xfrm>
            <a:off x="1280160" y="2267712"/>
            <a:ext cx="3566160" cy="320040"/>
          </a:xfrm>
          <a:prstGeom prst="rect">
            <a:avLst/>
          </a:prstGeom>
          <a:noFill/>
          <a:ln/>
        </p:spPr>
        <p:txBody>
          <a:bodyPr wrap="square" lIns="0" tIns="0" rIns="0" bIns="0" rtlCol="0" anchor="ctr"/>
          <a:lstStyle/>
          <a:p>
            <a:pPr indent="0" marL="0">
              <a:buNone/>
            </a:pPr>
            <a:r>
              <a:rPr lang="en-US" sz="1300" dirty="0">
                <a:solidFill>
                  <a:srgbClr val="9AA6B4"/>
                </a:solidFill>
                <a:latin typeface="Calibri" pitchFamily="34" charset="0"/>
                <a:ea typeface="Calibri" pitchFamily="34" charset="-122"/>
                <a:cs typeface="Calibri" pitchFamily="34" charset="-120"/>
              </a:rPr>
              <a:t>≈5,400 event person-hours in one cell</a:t>
            </a:r>
            <a:endParaRPr lang="en-US" sz="1300" dirty="0"/>
          </a:p>
        </p:txBody>
      </p:sp>
      <p:sp>
        <p:nvSpPr>
          <p:cNvPr id="10" name="Shape 6"/>
          <p:cNvSpPr/>
          <p:nvPr/>
        </p:nvSpPr>
        <p:spPr>
          <a:xfrm>
            <a:off x="548640" y="2898648"/>
            <a:ext cx="502920" cy="502920"/>
          </a:xfrm>
          <a:prstGeom prst="ellipse">
            <a:avLst/>
          </a:prstGeom>
          <a:solidFill>
            <a:srgbClr val="2FBF71"/>
          </a:solidFill>
          <a:ln w="12700">
            <a:solidFill>
              <a:srgbClr val="2FBF71"/>
            </a:solidFill>
            <a:prstDash val="solid"/>
          </a:ln>
        </p:spPr>
      </p:sp>
      <p:pic>
        <p:nvPicPr>
          <p:cNvPr id="11" name="Image 2" descr="preencoded.png">    </p:cNvPr>
          <p:cNvPicPr>
            <a:picLocks noChangeAspect="1"/>
          </p:cNvPicPr>
          <p:nvPr/>
        </p:nvPicPr>
        <p:blipFill>
          <a:blip r:embed="rId3"/>
          <a:stretch>
            <a:fillRect/>
          </a:stretch>
        </p:blipFill>
        <p:spPr>
          <a:xfrm>
            <a:off x="679399" y="3029407"/>
            <a:ext cx="241402" cy="241402"/>
          </a:xfrm>
          <a:prstGeom prst="rect">
            <a:avLst/>
          </a:prstGeom>
        </p:spPr>
      </p:pic>
      <p:sp>
        <p:nvSpPr>
          <p:cNvPr id="12" name="Text 7"/>
          <p:cNvSpPr txBox="1"/>
          <p:nvPr/>
        </p:nvSpPr>
        <p:spPr>
          <a:xfrm>
            <a:off x="1280160" y="2852928"/>
            <a:ext cx="3566160" cy="347472"/>
          </a:xfrm>
          <a:prstGeom prst="rect">
            <a:avLst/>
          </a:prstGeom>
          <a:noFill/>
          <a:ln/>
        </p:spPr>
        <p:txBody>
          <a:bodyPr wrap="square" lIns="0" tIns="0" rIns="0" bIns="0" rtlCol="0" anchor="ctr"/>
          <a:lstStyle/>
          <a:p>
            <a:pPr indent="0" marL="0">
              <a:buNone/>
            </a:pPr>
            <a:r>
              <a:rPr lang="en-US" sz="1700" b="1" dirty="0">
                <a:solidFill>
                  <a:srgbClr val="E8EDF2"/>
                </a:solidFill>
                <a:latin typeface="Calibri" pitchFamily="34" charset="0"/>
                <a:ea typeface="Calibri" pitchFamily="34" charset="-122"/>
                <a:cs typeface="Calibri" pitchFamily="34" charset="-120"/>
              </a:rPr>
              <a:t>Shade deficit 94/100</a:t>
            </a:r>
            <a:endParaRPr lang="en-US" sz="1700" dirty="0"/>
          </a:p>
        </p:txBody>
      </p:sp>
      <p:sp>
        <p:nvSpPr>
          <p:cNvPr id="13" name="Text 8"/>
          <p:cNvSpPr txBox="1"/>
          <p:nvPr/>
        </p:nvSpPr>
        <p:spPr>
          <a:xfrm>
            <a:off x="1280160" y="3200400"/>
            <a:ext cx="3566160" cy="320040"/>
          </a:xfrm>
          <a:prstGeom prst="rect">
            <a:avLst/>
          </a:prstGeom>
          <a:noFill/>
          <a:ln/>
        </p:spPr>
        <p:txBody>
          <a:bodyPr wrap="square" lIns="0" tIns="0" rIns="0" bIns="0" rtlCol="0" anchor="ctr"/>
          <a:lstStyle/>
          <a:p>
            <a:pPr indent="0" marL="0">
              <a:buNone/>
            </a:pPr>
            <a:r>
              <a:rPr lang="en-US" sz="1300" dirty="0">
                <a:solidFill>
                  <a:srgbClr val="9AA6B4"/>
                </a:solidFill>
                <a:latin typeface="Calibri" pitchFamily="34" charset="0"/>
                <a:ea typeface="Calibri" pitchFamily="34" charset="-122"/>
                <a:cs typeface="Calibri" pitchFamily="34" charset="-120"/>
              </a:rPr>
              <a:t>2% tree canopy, 79% impervious surface</a:t>
            </a:r>
            <a:endParaRPr lang="en-US" sz="1300" dirty="0"/>
          </a:p>
        </p:txBody>
      </p:sp>
      <p:sp>
        <p:nvSpPr>
          <p:cNvPr id="14" name="Shape 9"/>
          <p:cNvSpPr/>
          <p:nvPr/>
        </p:nvSpPr>
        <p:spPr>
          <a:xfrm>
            <a:off x="548640" y="3831336"/>
            <a:ext cx="502920" cy="502920"/>
          </a:xfrm>
          <a:prstGeom prst="ellipse">
            <a:avLst/>
          </a:prstGeom>
          <a:solidFill>
            <a:srgbClr val="E5383B"/>
          </a:solidFill>
          <a:ln w="12700">
            <a:solidFill>
              <a:srgbClr val="E5383B"/>
            </a:solidFill>
            <a:prstDash val="solid"/>
          </a:ln>
        </p:spPr>
      </p:sp>
      <p:pic>
        <p:nvPicPr>
          <p:cNvPr id="15" name="Image 3" descr="preencoded.png">    </p:cNvPr>
          <p:cNvPicPr>
            <a:picLocks noChangeAspect="1"/>
          </p:cNvPicPr>
          <p:nvPr/>
        </p:nvPicPr>
        <p:blipFill>
          <a:blip r:embed="rId4"/>
          <a:stretch>
            <a:fillRect/>
          </a:stretch>
        </p:blipFill>
        <p:spPr>
          <a:xfrm>
            <a:off x="679399" y="3962095"/>
            <a:ext cx="241402" cy="241402"/>
          </a:xfrm>
          <a:prstGeom prst="rect">
            <a:avLst/>
          </a:prstGeom>
        </p:spPr>
      </p:pic>
      <p:sp>
        <p:nvSpPr>
          <p:cNvPr id="16" name="Text 10"/>
          <p:cNvSpPr txBox="1"/>
          <p:nvPr/>
        </p:nvSpPr>
        <p:spPr>
          <a:xfrm>
            <a:off x="1280160" y="3785616"/>
            <a:ext cx="3566160" cy="347472"/>
          </a:xfrm>
          <a:prstGeom prst="rect">
            <a:avLst/>
          </a:prstGeom>
          <a:noFill/>
          <a:ln/>
        </p:spPr>
        <p:txBody>
          <a:bodyPr wrap="square" lIns="0" tIns="0" rIns="0" bIns="0" rtlCol="0" anchor="ctr"/>
          <a:lstStyle/>
          <a:p>
            <a:pPr indent="0" marL="0">
              <a:buNone/>
            </a:pPr>
            <a:r>
              <a:rPr lang="en-US" sz="1700" b="1" dirty="0">
                <a:solidFill>
                  <a:srgbClr val="E8EDF2"/>
                </a:solidFill>
                <a:latin typeface="Calibri" pitchFamily="34" charset="0"/>
                <a:ea typeface="Calibri" pitchFamily="34" charset="-122"/>
                <a:cs typeface="Calibri" pitchFamily="34" charset="-120"/>
              </a:rPr>
              <a:t>Heat index 112°F</a:t>
            </a:r>
            <a:endParaRPr lang="en-US" sz="1700" dirty="0"/>
          </a:p>
        </p:txBody>
      </p:sp>
      <p:sp>
        <p:nvSpPr>
          <p:cNvPr id="17" name="Text 11"/>
          <p:cNvSpPr txBox="1"/>
          <p:nvPr/>
        </p:nvSpPr>
        <p:spPr>
          <a:xfrm>
            <a:off x="1280160" y="4133088"/>
            <a:ext cx="3566160" cy="320040"/>
          </a:xfrm>
          <a:prstGeom prst="rect">
            <a:avLst/>
          </a:prstGeom>
          <a:noFill/>
          <a:ln/>
        </p:spPr>
        <p:txBody>
          <a:bodyPr wrap="square" lIns="0" tIns="0" rIns="0" bIns="0" rtlCol="0" anchor="ctr"/>
          <a:lstStyle/>
          <a:p>
            <a:pPr indent="0" marL="0">
              <a:buNone/>
            </a:pPr>
            <a:r>
              <a:rPr lang="en-US" sz="1300" dirty="0">
                <a:solidFill>
                  <a:srgbClr val="9AA6B4"/>
                </a:solidFill>
                <a:latin typeface="Calibri" pitchFamily="34" charset="0"/>
                <a:ea typeface="Calibri" pitchFamily="34" charset="-122"/>
                <a:cs typeface="Calibri" pitchFamily="34" charset="-120"/>
              </a:rPr>
              <a:t>H3AT 2020 heat model for this block</a:t>
            </a:r>
            <a:endParaRPr lang="en-US" sz="1300" dirty="0"/>
          </a:p>
        </p:txBody>
      </p:sp>
      <p:sp>
        <p:nvSpPr>
          <p:cNvPr id="18" name="Shape 12"/>
          <p:cNvSpPr/>
          <p:nvPr/>
        </p:nvSpPr>
        <p:spPr>
          <a:xfrm>
            <a:off x="548640" y="4764024"/>
            <a:ext cx="502920" cy="502920"/>
          </a:xfrm>
          <a:prstGeom prst="ellipse">
            <a:avLst/>
          </a:prstGeom>
          <a:solidFill>
            <a:srgbClr val="38BDF8"/>
          </a:solidFill>
          <a:ln w="12700">
            <a:solidFill>
              <a:srgbClr val="38BDF8"/>
            </a:solidFill>
            <a:prstDash val="solid"/>
          </a:ln>
        </p:spPr>
      </p:sp>
      <p:pic>
        <p:nvPicPr>
          <p:cNvPr id="19" name="Image 4" descr="preencoded.png">    </p:cNvPr>
          <p:cNvPicPr>
            <a:picLocks noChangeAspect="1"/>
          </p:cNvPicPr>
          <p:nvPr/>
        </p:nvPicPr>
        <p:blipFill>
          <a:blip r:embed="rId5"/>
          <a:stretch>
            <a:fillRect/>
          </a:stretch>
        </p:blipFill>
        <p:spPr>
          <a:xfrm>
            <a:off x="679399" y="4894783"/>
            <a:ext cx="241402" cy="241402"/>
          </a:xfrm>
          <a:prstGeom prst="rect">
            <a:avLst/>
          </a:prstGeom>
        </p:spPr>
      </p:pic>
      <p:sp>
        <p:nvSpPr>
          <p:cNvPr id="20" name="Text 13"/>
          <p:cNvSpPr txBox="1"/>
          <p:nvPr/>
        </p:nvSpPr>
        <p:spPr>
          <a:xfrm>
            <a:off x="1280160" y="4718304"/>
            <a:ext cx="3566160" cy="347472"/>
          </a:xfrm>
          <a:prstGeom prst="rect">
            <a:avLst/>
          </a:prstGeom>
          <a:noFill/>
          <a:ln/>
        </p:spPr>
        <p:txBody>
          <a:bodyPr wrap="square" lIns="0" tIns="0" rIns="0" bIns="0" rtlCol="0" anchor="ctr"/>
          <a:lstStyle/>
          <a:p>
            <a:pPr indent="0" marL="0">
              <a:buNone/>
            </a:pPr>
            <a:r>
              <a:rPr lang="en-US" sz="1700" b="1" dirty="0">
                <a:solidFill>
                  <a:srgbClr val="E8EDF2"/>
                </a:solidFill>
                <a:latin typeface="Calibri" pitchFamily="34" charset="0"/>
                <a:ea typeface="Calibri" pitchFamily="34" charset="-122"/>
                <a:cs typeface="Calibri" pitchFamily="34" charset="-120"/>
              </a:rPr>
              <a:t>1.28 mi to cooling</a:t>
            </a:r>
            <a:endParaRPr lang="en-US" sz="1700" dirty="0"/>
          </a:p>
        </p:txBody>
      </p:sp>
      <p:sp>
        <p:nvSpPr>
          <p:cNvPr id="21" name="Text 14"/>
          <p:cNvSpPr txBox="1"/>
          <p:nvPr/>
        </p:nvSpPr>
        <p:spPr>
          <a:xfrm>
            <a:off x="1280160" y="5065776"/>
            <a:ext cx="3566160" cy="320040"/>
          </a:xfrm>
          <a:prstGeom prst="rect">
            <a:avLst/>
          </a:prstGeom>
          <a:noFill/>
          <a:ln/>
        </p:spPr>
        <p:txBody>
          <a:bodyPr wrap="square" lIns="0" tIns="0" rIns="0" bIns="0" rtlCol="0" anchor="ctr"/>
          <a:lstStyle/>
          <a:p>
            <a:pPr indent="0" marL="0">
              <a:buNone/>
            </a:pPr>
            <a:r>
              <a:rPr lang="en-US" sz="1300" dirty="0">
                <a:solidFill>
                  <a:srgbClr val="9AA6B4"/>
                </a:solidFill>
                <a:latin typeface="Calibri" pitchFamily="34" charset="0"/>
                <a:ea typeface="Calibri" pitchFamily="34" charset="-122"/>
                <a:cs typeface="Calibri" pitchFamily="34" charset="-120"/>
              </a:rPr>
              <a:t>Nearest City cool center: Linkwood</a:t>
            </a:r>
            <a:endParaRPr lang="en-US" sz="1300" dirty="0"/>
          </a:p>
        </p:txBody>
      </p:sp>
      <p:sp>
        <p:nvSpPr>
          <p:cNvPr id="22" name="Shape 15"/>
          <p:cNvSpPr/>
          <p:nvPr/>
        </p:nvSpPr>
        <p:spPr>
          <a:xfrm>
            <a:off x="548640" y="5669280"/>
            <a:ext cx="4069080" cy="777240"/>
          </a:xfrm>
          <a:prstGeom prst="roundRect">
            <a:avLst>
              <a:gd name="adj" fmla="val 14118"/>
            </a:avLst>
          </a:prstGeom>
          <a:solidFill>
            <a:srgbClr val="1E1712"/>
          </a:solidFill>
          <a:ln w="9525">
            <a:solidFill>
              <a:srgbClr val="2A3441"/>
            </a:solidFill>
            <a:prstDash val="solid"/>
          </a:ln>
        </p:spPr>
      </p:sp>
      <p:sp>
        <p:nvSpPr>
          <p:cNvPr id="23" name="Text 16"/>
          <p:cNvSpPr txBox="1"/>
          <p:nvPr/>
        </p:nvSpPr>
        <p:spPr>
          <a:xfrm>
            <a:off x="777240" y="5669280"/>
            <a:ext cx="3703320" cy="777240"/>
          </a:xfrm>
          <a:prstGeom prst="rect">
            <a:avLst/>
          </a:prstGeom>
          <a:noFill/>
          <a:ln/>
        </p:spPr>
        <p:txBody>
          <a:bodyPr wrap="square" lIns="0" tIns="0" rIns="0" bIns="0" rtlCol="0" anchor="ctr"/>
          <a:lstStyle/>
          <a:p>
            <a:pPr indent="0" marL="0">
              <a:buNone/>
            </a:pPr>
            <a:r>
              <a:rPr lang="en-US" sz="1300" b="1" dirty="0">
                <a:solidFill>
                  <a:srgbClr val="FF7A1A"/>
                </a:solidFill>
                <a:latin typeface="Calibri" pitchFamily="34" charset="0"/>
                <a:ea typeface="Calibri" pitchFamily="34" charset="-122"/>
                <a:cs typeface="Calibri" pitchFamily="34" charset="-120"/>
              </a:rPr>
              <a:t>Explain this recommendation: </a:t>
            </a:r>
            <a:pPr indent="0" marL="0">
              <a:buNone/>
            </a:pPr>
            <a:r>
              <a:rPr lang="en-US" sz="1300" dirty="0">
                <a:solidFill>
                  <a:srgbClr val="E8EDF2"/>
                </a:solidFill>
                <a:latin typeface="Calibri" pitchFamily="34" charset="0"/>
                <a:ea typeface="Calibri" pitchFamily="34" charset="-122"/>
                <a:cs typeface="Calibri" pitchFamily="34" charset="-120"/>
              </a:rPr>
              <a:t>Gemini writes a planner memo from these facts only.</a:t>
            </a:r>
            <a:endParaRPr lang="en-US" sz="1300" dirty="0"/>
          </a:p>
        </p:txBody>
      </p:sp>
      <p:sp>
        <p:nvSpPr>
          <p:cNvPr id="24" name="Text 17"/>
          <p:cNvSpPr txBox="1"/>
          <p:nvPr/>
        </p:nvSpPr>
        <p:spPr>
          <a:xfrm>
            <a:off x="4892040" y="4892040"/>
            <a:ext cx="6766560" cy="274320"/>
          </a:xfrm>
          <a:prstGeom prst="rect">
            <a:avLst/>
          </a:prstGeom>
          <a:noFill/>
          <a:ln/>
        </p:spPr>
        <p:txBody>
          <a:bodyPr wrap="square" lIns="0" tIns="0" rIns="0" bIns="0" rtlCol="0" anchor="ctr"/>
          <a:lstStyle/>
          <a:p>
            <a:pPr indent="0" marL="0">
              <a:buNone/>
            </a:pPr>
            <a:r>
              <a:rPr lang="en-US" sz="1100" dirty="0">
                <a:solidFill>
                  <a:srgbClr val="6B7788"/>
                </a:solidFill>
                <a:latin typeface="Calibri" pitchFamily="34" charset="0"/>
                <a:ea typeface="Calibri" pitchFamily="34" charset="-122"/>
                <a:cs typeface="Calibri" pitchFamily="34" charset="-120"/>
              </a:rPr>
              <a:t>Example: South Main cell on NRG Park lots — risk 79, critical</a:t>
            </a:r>
            <a:endParaRPr lang="en-US" sz="1100" dirty="0"/>
          </a:p>
        </p:txBody>
      </p:sp>
      <p:sp>
        <p:nvSpPr>
          <p:cNvPr id="26" name="Text 18"/>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1000" dirty="0">
                <a:solidFill>
                  <a:srgbClr val="6B7788"/>
                </a:solidFill>
                <a:latin typeface="Calibri" pitchFamily="34" charset="0"/>
                <a:ea typeface="Calibri" pitchFamily="34" charset="-122"/>
                <a:cs typeface="Calibri" pitchFamily="34" charset="-120"/>
              </a:rPr>
              <a:t>HeatShield 26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D12"/>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200" b="1" spc="300" kern="0" dirty="0">
                <a:solidFill>
                  <a:srgbClr val="FF7A1A"/>
                </a:solidFill>
                <a:latin typeface="Calibri" pitchFamily="34" charset="0"/>
                <a:ea typeface="Calibri" pitchFamily="34" charset="-122"/>
                <a:cs typeface="Calibri" pitchFamily="34" charset="-120"/>
              </a:rPr>
              <a:t>LIVE DEMO · 3</a:t>
            </a:r>
            <a:endParaRPr lang="en-US" sz="1200" dirty="0"/>
          </a:p>
        </p:txBody>
      </p:sp>
      <p:sp>
        <p:nvSpPr>
          <p:cNvPr id="3" name="Text 1"/>
          <p:cNvSpPr txBox="1"/>
          <p:nvPr/>
        </p:nvSpPr>
        <p:spPr>
          <a:xfrm>
            <a:off x="548640" y="749808"/>
            <a:ext cx="5486400" cy="914400"/>
          </a:xfrm>
          <a:prstGeom prst="rect">
            <a:avLst/>
          </a:prstGeom>
          <a:noFill/>
          <a:ln/>
        </p:spPr>
        <p:txBody>
          <a:bodyPr wrap="square" lIns="0" tIns="0" rIns="0" bIns="0" rtlCol="0" anchor="t"/>
          <a:lstStyle/>
          <a:p>
            <a:pPr indent="0" marL="0">
              <a:buNone/>
            </a:pPr>
            <a:r>
              <a:rPr lang="en-US" sz="3000" b="1" dirty="0">
                <a:solidFill>
                  <a:srgbClr val="E8EDF2"/>
                </a:solidFill>
                <a:latin typeface="Calibri" pitchFamily="34" charset="0"/>
                <a:ea typeface="Calibri" pitchFamily="34" charset="-122"/>
                <a:cs typeface="Calibri" pitchFamily="34" charset="-120"/>
              </a:rPr>
              <a:t>Optimize a $1M plan in one click</a:t>
            </a:r>
            <a:endParaRPr lang="en-US" sz="3000" dirty="0"/>
          </a:p>
        </p:txBody>
      </p:sp>
      <p:sp>
        <p:nvSpPr>
          <p:cNvPr id="4" name="Shape 2"/>
          <p:cNvSpPr/>
          <p:nvPr/>
        </p:nvSpPr>
        <p:spPr>
          <a:xfrm>
            <a:off x="6071616" y="512064"/>
            <a:ext cx="5641848" cy="3567303"/>
          </a:xfrm>
          <a:prstGeom prst="roundRect">
            <a:avLst>
              <a:gd name="adj" fmla="val 2563"/>
            </a:avLst>
          </a:prstGeom>
          <a:solidFill>
            <a:srgbClr val="151C25"/>
          </a:solidFill>
          <a:ln w="9525">
            <a:solidFill>
              <a:srgbClr val="2A3441"/>
            </a:solidFill>
            <a:prstDash val="solid"/>
          </a:ln>
        </p:spPr>
      </p:sp>
      <p:pic>
        <p:nvPicPr>
          <p:cNvPr id="5" name="Image 0" descr="C:\Users\Stint\Desktop\Projects\heatshield26\docs\screenshots\05-optimized-plan.png">    </p:cNvPr>
          <p:cNvPicPr>
            <a:picLocks noChangeAspect="1"/>
          </p:cNvPicPr>
          <p:nvPr/>
        </p:nvPicPr>
        <p:blipFill>
          <a:blip r:embed="rId1"/>
          <a:stretch>
            <a:fillRect/>
          </a:stretch>
        </p:blipFill>
        <p:spPr>
          <a:xfrm>
            <a:off x="6126480" y="566928"/>
            <a:ext cx="5532120" cy="3457575"/>
          </a:xfrm>
          <a:prstGeom prst="rect">
            <a:avLst/>
          </a:prstGeom>
        </p:spPr>
      </p:pic>
      <p:sp>
        <p:nvSpPr>
          <p:cNvPr id="6" name="Shape 3"/>
          <p:cNvSpPr/>
          <p:nvPr/>
        </p:nvSpPr>
        <p:spPr>
          <a:xfrm>
            <a:off x="548640" y="1874520"/>
            <a:ext cx="5257800" cy="896112"/>
          </a:xfrm>
          <a:prstGeom prst="roundRect">
            <a:avLst>
              <a:gd name="adj" fmla="val 12245"/>
            </a:avLst>
          </a:prstGeom>
          <a:solidFill>
            <a:srgbClr val="151C25"/>
          </a:solidFill>
          <a:ln w="9525">
            <a:solidFill>
              <a:srgbClr val="2A3441"/>
            </a:solidFill>
            <a:prstDash val="solid"/>
          </a:ln>
        </p:spPr>
      </p:sp>
      <p:sp>
        <p:nvSpPr>
          <p:cNvPr id="7" name="Text 4"/>
          <p:cNvSpPr txBox="1"/>
          <p:nvPr/>
        </p:nvSpPr>
        <p:spPr>
          <a:xfrm>
            <a:off x="822960" y="1874520"/>
            <a:ext cx="2651760" cy="896112"/>
          </a:xfrm>
          <a:prstGeom prst="rect">
            <a:avLst/>
          </a:prstGeom>
          <a:noFill/>
          <a:ln/>
        </p:spPr>
        <p:txBody>
          <a:bodyPr wrap="square" lIns="0" tIns="0" rIns="0" bIns="0" rtlCol="0" anchor="ctr"/>
          <a:lstStyle/>
          <a:p>
            <a:pPr indent="0" marL="0">
              <a:buNone/>
            </a:pPr>
            <a:r>
              <a:rPr lang="en-US" sz="2200" dirty="0">
                <a:solidFill>
                  <a:srgbClr val="6B7788"/>
                </a:solidFill>
                <a:latin typeface="Calibri" pitchFamily="34" charset="0"/>
                <a:ea typeface="Calibri" pitchFamily="34" charset="-122"/>
                <a:cs typeface="Calibri" pitchFamily="34" charset="-120"/>
              </a:rPr>
              <a:t>5  </a:t>
            </a:r>
            <a:pPr indent="0" marL="0">
              <a:buNone/>
            </a:pPr>
            <a:r>
              <a:rPr lang="en-US" sz="2200" dirty="0">
                <a:solidFill>
                  <a:srgbClr val="6B7788"/>
                </a:solidFill>
                <a:latin typeface="Calibri" pitchFamily="34" charset="0"/>
                <a:ea typeface="Calibri" pitchFamily="34" charset="-122"/>
                <a:cs typeface="Calibri" pitchFamily="34" charset="-120"/>
              </a:rPr>
              <a:t>→  </a:t>
            </a:r>
            <a:pPr indent="0" marL="0">
              <a:buNone/>
            </a:pPr>
            <a:r>
              <a:rPr lang="en-US" sz="3400" b="1" dirty="0">
                <a:solidFill>
                  <a:srgbClr val="E5383B"/>
                </a:solidFill>
                <a:latin typeface="Calibri" pitchFamily="34" charset="0"/>
                <a:ea typeface="Calibri" pitchFamily="34" charset="-122"/>
                <a:cs typeface="Calibri" pitchFamily="34" charset="-120"/>
              </a:rPr>
              <a:t>0</a:t>
            </a:r>
            <a:endParaRPr lang="en-US" sz="2200" dirty="0"/>
          </a:p>
        </p:txBody>
      </p:sp>
      <p:sp>
        <p:nvSpPr>
          <p:cNvPr id="8" name="Text 5"/>
          <p:cNvSpPr txBox="1"/>
          <p:nvPr/>
        </p:nvSpPr>
        <p:spPr>
          <a:xfrm>
            <a:off x="3520440" y="1874520"/>
            <a:ext cx="2148840" cy="896112"/>
          </a:xfrm>
          <a:prstGeom prst="rect">
            <a:avLst/>
          </a:prstGeom>
          <a:noFill/>
          <a:ln/>
        </p:spPr>
        <p:txBody>
          <a:bodyPr wrap="square" lIns="0" tIns="0" rIns="0" bIns="0" rtlCol="0" anchor="ctr"/>
          <a:lstStyle/>
          <a:p>
            <a:pPr indent="0" marL="0">
              <a:buNone/>
            </a:pPr>
            <a:r>
              <a:rPr lang="en-US" sz="1400" dirty="0">
                <a:solidFill>
                  <a:srgbClr val="9AA6B4"/>
                </a:solidFill>
                <a:latin typeface="Calibri" pitchFamily="34" charset="0"/>
                <a:ea typeface="Calibri" pitchFamily="34" charset="-122"/>
                <a:cs typeface="Calibri" pitchFamily="34" charset="-120"/>
              </a:rPr>
              <a:t>critical zones</a:t>
            </a:r>
            <a:endParaRPr lang="en-US" sz="1400" dirty="0"/>
          </a:p>
        </p:txBody>
      </p:sp>
      <p:sp>
        <p:nvSpPr>
          <p:cNvPr id="9" name="Shape 6"/>
          <p:cNvSpPr/>
          <p:nvPr/>
        </p:nvSpPr>
        <p:spPr>
          <a:xfrm>
            <a:off x="548640" y="2898648"/>
            <a:ext cx="5257800" cy="896112"/>
          </a:xfrm>
          <a:prstGeom prst="roundRect">
            <a:avLst>
              <a:gd name="adj" fmla="val 12245"/>
            </a:avLst>
          </a:prstGeom>
          <a:solidFill>
            <a:srgbClr val="151C25"/>
          </a:solidFill>
          <a:ln w="9525">
            <a:solidFill>
              <a:srgbClr val="2A3441"/>
            </a:solidFill>
            <a:prstDash val="solid"/>
          </a:ln>
        </p:spPr>
      </p:sp>
      <p:sp>
        <p:nvSpPr>
          <p:cNvPr id="10" name="Text 7"/>
          <p:cNvSpPr txBox="1"/>
          <p:nvPr/>
        </p:nvSpPr>
        <p:spPr>
          <a:xfrm>
            <a:off x="822960" y="2898648"/>
            <a:ext cx="2651760" cy="896112"/>
          </a:xfrm>
          <a:prstGeom prst="rect">
            <a:avLst/>
          </a:prstGeom>
          <a:noFill/>
          <a:ln/>
        </p:spPr>
        <p:txBody>
          <a:bodyPr wrap="square" lIns="0" tIns="0" rIns="0" bIns="0" rtlCol="0" anchor="ctr"/>
          <a:lstStyle/>
          <a:p>
            <a:pPr indent="0" marL="0">
              <a:buNone/>
            </a:pPr>
            <a:r>
              <a:rPr lang="en-US" sz="2200" dirty="0">
                <a:solidFill>
                  <a:srgbClr val="6B7788"/>
                </a:solidFill>
                <a:latin typeface="Calibri" pitchFamily="34" charset="0"/>
                <a:ea typeface="Calibri" pitchFamily="34" charset="-122"/>
                <a:cs typeface="Calibri" pitchFamily="34" charset="-120"/>
              </a:rPr>
              <a:t>18,978  </a:t>
            </a:r>
            <a:pPr indent="0" marL="0">
              <a:buNone/>
            </a:pPr>
            <a:r>
              <a:rPr lang="en-US" sz="2200" dirty="0">
                <a:solidFill>
                  <a:srgbClr val="6B7788"/>
                </a:solidFill>
                <a:latin typeface="Calibri" pitchFamily="34" charset="0"/>
                <a:ea typeface="Calibri" pitchFamily="34" charset="-122"/>
                <a:cs typeface="Calibri" pitchFamily="34" charset="-120"/>
              </a:rPr>
              <a:t>→  </a:t>
            </a:r>
            <a:pPr indent="0" marL="0">
              <a:buNone/>
            </a:pPr>
            <a:r>
              <a:rPr lang="en-US" sz="3400" b="1" dirty="0">
                <a:solidFill>
                  <a:srgbClr val="E8EDF2"/>
                </a:solidFill>
                <a:latin typeface="Calibri" pitchFamily="34" charset="0"/>
                <a:ea typeface="Calibri" pitchFamily="34" charset="-122"/>
                <a:cs typeface="Calibri" pitchFamily="34" charset="-120"/>
              </a:rPr>
              <a:t>0</a:t>
            </a:r>
            <a:endParaRPr lang="en-US" sz="2200" dirty="0"/>
          </a:p>
        </p:txBody>
      </p:sp>
      <p:sp>
        <p:nvSpPr>
          <p:cNvPr id="11" name="Text 8"/>
          <p:cNvSpPr txBox="1"/>
          <p:nvPr/>
        </p:nvSpPr>
        <p:spPr>
          <a:xfrm>
            <a:off x="3520440" y="2898648"/>
            <a:ext cx="2148840" cy="896112"/>
          </a:xfrm>
          <a:prstGeom prst="rect">
            <a:avLst/>
          </a:prstGeom>
          <a:noFill/>
          <a:ln/>
        </p:spPr>
        <p:txBody>
          <a:bodyPr wrap="square" lIns="0" tIns="0" rIns="0" bIns="0" rtlCol="0" anchor="ctr"/>
          <a:lstStyle/>
          <a:p>
            <a:pPr indent="0" marL="0">
              <a:buNone/>
            </a:pPr>
            <a:r>
              <a:rPr lang="en-US" sz="1400" dirty="0">
                <a:solidFill>
                  <a:srgbClr val="9AA6B4"/>
                </a:solidFill>
                <a:latin typeface="Calibri" pitchFamily="34" charset="0"/>
                <a:ea typeface="Calibri" pitchFamily="34" charset="-122"/>
                <a:cs typeface="Calibri" pitchFamily="34" charset="-120"/>
              </a:rPr>
              <a:t>visitors routed through critical zones</a:t>
            </a:r>
            <a:endParaRPr lang="en-US" sz="1400" dirty="0"/>
          </a:p>
        </p:txBody>
      </p:sp>
      <p:sp>
        <p:nvSpPr>
          <p:cNvPr id="12" name="Shape 9"/>
          <p:cNvSpPr/>
          <p:nvPr/>
        </p:nvSpPr>
        <p:spPr>
          <a:xfrm>
            <a:off x="548640" y="3922776"/>
            <a:ext cx="5257800" cy="896112"/>
          </a:xfrm>
          <a:prstGeom prst="roundRect">
            <a:avLst>
              <a:gd name="adj" fmla="val 12245"/>
            </a:avLst>
          </a:prstGeom>
          <a:solidFill>
            <a:srgbClr val="151C25"/>
          </a:solidFill>
          <a:ln w="9525">
            <a:solidFill>
              <a:srgbClr val="2A3441"/>
            </a:solidFill>
            <a:prstDash val="solid"/>
          </a:ln>
        </p:spPr>
      </p:sp>
      <p:sp>
        <p:nvSpPr>
          <p:cNvPr id="13" name="Text 10"/>
          <p:cNvSpPr txBox="1"/>
          <p:nvPr/>
        </p:nvSpPr>
        <p:spPr>
          <a:xfrm>
            <a:off x="822960" y="3922776"/>
            <a:ext cx="2651760" cy="896112"/>
          </a:xfrm>
          <a:prstGeom prst="rect">
            <a:avLst/>
          </a:prstGeom>
          <a:noFill/>
          <a:ln/>
        </p:spPr>
        <p:txBody>
          <a:bodyPr wrap="square" lIns="0" tIns="0" rIns="0" bIns="0" rtlCol="0" anchor="ctr"/>
          <a:lstStyle/>
          <a:p>
            <a:pPr indent="0" marL="0">
              <a:buNone/>
            </a:pPr>
            <a:r>
              <a:rPr lang="en-US" sz="3400" b="1" dirty="0">
                <a:solidFill>
                  <a:srgbClr val="FF7A1A"/>
                </a:solidFill>
                <a:latin typeface="Calibri" pitchFamily="34" charset="0"/>
                <a:ea typeface="Calibri" pitchFamily="34" charset="-122"/>
                <a:cs typeface="Calibri" pitchFamily="34" charset="-120"/>
              </a:rPr>
              <a:t>−18%</a:t>
            </a:r>
            <a:endParaRPr lang="en-US" sz="3400" dirty="0"/>
          </a:p>
        </p:txBody>
      </p:sp>
      <p:sp>
        <p:nvSpPr>
          <p:cNvPr id="14" name="Text 11"/>
          <p:cNvSpPr txBox="1"/>
          <p:nvPr/>
        </p:nvSpPr>
        <p:spPr>
          <a:xfrm>
            <a:off x="3520440" y="3922776"/>
            <a:ext cx="2148840" cy="896112"/>
          </a:xfrm>
          <a:prstGeom prst="rect">
            <a:avLst/>
          </a:prstGeom>
          <a:noFill/>
          <a:ln/>
        </p:spPr>
        <p:txBody>
          <a:bodyPr wrap="square" lIns="0" tIns="0" rIns="0" bIns="0" rtlCol="0" anchor="ctr"/>
          <a:lstStyle/>
          <a:p>
            <a:pPr indent="0" marL="0">
              <a:buNone/>
            </a:pPr>
            <a:r>
              <a:rPr lang="en-US" sz="1400" dirty="0">
                <a:solidFill>
                  <a:srgbClr val="9AA6B4"/>
                </a:solidFill>
                <a:latin typeface="Calibri" pitchFamily="34" charset="0"/>
                <a:ea typeface="Calibri" pitchFamily="34" charset="-122"/>
                <a:cs typeface="Calibri" pitchFamily="34" charset="-120"/>
              </a:rPr>
              <a:t>exposure burden for $980K (19 interventions)</a:t>
            </a:r>
            <a:endParaRPr lang="en-US" sz="1400" dirty="0"/>
          </a:p>
        </p:txBody>
      </p:sp>
      <p:graphicFrame>
        <p:nvGraphicFramePr>
          <p:cNvPr id="15" name="Chart 0" descr=""/>
          <p:cNvGraphicFramePr/>
          <p:nvPr/>
        </p:nvGraphicFramePr>
        <p:xfrm>
          <a:off x="548640" y="4983480"/>
          <a:ext cx="5257800" cy="1417320"/>
        </p:xfrm>
        <a:graphic xmlns:a="http://schemas.openxmlformats.org/drawingml/2006/main">
          <a:graphicData uri="http://schemas.openxmlformats.org/drawingml/2006/chart">
            <c:chart xmlns:c="http://schemas.openxmlformats.org/drawingml/2006/chart" r:id="rId2"/>
          </a:graphicData>
        </a:graphic>
      </p:graphicFrame>
      <p:sp>
        <p:nvSpPr>
          <p:cNvPr id="16" name="Text 12"/>
          <p:cNvSpPr txBox="1"/>
          <p:nvPr/>
        </p:nvSpPr>
        <p:spPr>
          <a:xfrm>
            <a:off x="6126480" y="4224528"/>
            <a:ext cx="5532120" cy="548640"/>
          </a:xfrm>
          <a:prstGeom prst="rect">
            <a:avLst/>
          </a:prstGeom>
          <a:noFill/>
          <a:ln/>
        </p:spPr>
        <p:txBody>
          <a:bodyPr wrap="square" lIns="0" tIns="0" rIns="0" bIns="0" rtlCol="0" anchor="t"/>
          <a:lstStyle/>
          <a:p>
            <a:pPr indent="0" marL="0">
              <a:buNone/>
            </a:pPr>
            <a:r>
              <a:rPr lang="en-US" sz="1200" dirty="0">
                <a:solidFill>
                  <a:srgbClr val="6B7788"/>
                </a:solidFill>
                <a:latin typeface="Calibri" pitchFamily="34" charset="0"/>
                <a:ea typeface="Calibri" pitchFamily="34" charset="-122"/>
                <a:cs typeface="Calibri" pitchFamily="34" charset="-120"/>
              </a:rPr>
              <a:t>Portfolio: water &amp; misting stations, shade over queues, a cooling hub and a shuttle loop. Greedy search, verified against full re-scoring.</a:t>
            </a:r>
            <a:endParaRPr lang="en-US" sz="1200" dirty="0"/>
          </a:p>
        </p:txBody>
      </p:sp>
      <p:sp>
        <p:nvSpPr>
          <p:cNvPr id="17" name="Shape 13"/>
          <p:cNvSpPr/>
          <p:nvPr/>
        </p:nvSpPr>
        <p:spPr>
          <a:xfrm>
            <a:off x="6126480" y="4983480"/>
            <a:ext cx="5532120" cy="1417320"/>
          </a:xfrm>
          <a:prstGeom prst="roundRect">
            <a:avLst>
              <a:gd name="adj" fmla="val 7742"/>
            </a:avLst>
          </a:prstGeom>
          <a:solidFill>
            <a:srgbClr val="1E1712"/>
          </a:solidFill>
          <a:ln w="9525">
            <a:solidFill>
              <a:srgbClr val="2A3441"/>
            </a:solidFill>
            <a:prstDash val="solid"/>
          </a:ln>
        </p:spPr>
      </p:sp>
      <p:sp>
        <p:nvSpPr>
          <p:cNvPr id="18" name="Text 14"/>
          <p:cNvSpPr txBox="1"/>
          <p:nvPr/>
        </p:nvSpPr>
        <p:spPr>
          <a:xfrm>
            <a:off x="6400800" y="4983480"/>
            <a:ext cx="5029200" cy="1417320"/>
          </a:xfrm>
          <a:prstGeom prst="rect">
            <a:avLst/>
          </a:prstGeom>
          <a:noFill/>
          <a:ln/>
        </p:spPr>
        <p:txBody>
          <a:bodyPr wrap="square" lIns="0" tIns="0" rIns="0" bIns="0" rtlCol="0" anchor="ctr"/>
          <a:lstStyle/>
          <a:p>
            <a:pPr indent="0" marL="0">
              <a:buNone/>
            </a:pPr>
            <a:r>
              <a:rPr lang="en-US" sz="1400" b="1" dirty="0">
                <a:solidFill>
                  <a:srgbClr val="FF7A1A"/>
                </a:solidFill>
                <a:latin typeface="Calibri" pitchFamily="34" charset="0"/>
                <a:ea typeface="Calibri" pitchFamily="34" charset="-122"/>
                <a:cs typeface="Calibri" pitchFamily="34" charset="-120"/>
              </a:rPr>
              <a:t>Demo move: </a:t>
            </a:r>
            <a:pPr indent="0" marL="0">
              <a:buNone/>
            </a:pPr>
            <a:r>
              <a:rPr lang="en-US" sz="1400" dirty="0">
                <a:solidFill>
                  <a:srgbClr val="E8EDF2"/>
                </a:solidFill>
                <a:latin typeface="Calibri" pitchFamily="34" charset="0"/>
                <a:ea typeface="Calibri" pitchFamily="34" charset="-122"/>
                <a:cs typeface="Calibri" pitchFamily="34" charset="-120"/>
              </a:rPr>
              <a:t>Optimize tab → “Optimize $1M plan”. Point at the markers appearing on the lots and the KPI strip dropping to zero.</a:t>
            </a:r>
            <a:endParaRPr lang="en-US" sz="1400" dirty="0"/>
          </a:p>
        </p:txBody>
      </p:sp>
      <p:sp>
        <p:nvSpPr>
          <p:cNvPr id="20" name="Text 15"/>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1000" dirty="0">
                <a:solidFill>
                  <a:srgbClr val="6B7788"/>
                </a:solidFill>
                <a:latin typeface="Calibri" pitchFamily="34" charset="0"/>
                <a:ea typeface="Calibri" pitchFamily="34" charset="-122"/>
                <a:cs typeface="Calibri" pitchFamily="34" charset="-120"/>
              </a:rPr>
              <a:t>HeatShield 26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D12"/>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200" b="1" spc="300" kern="0" dirty="0">
                <a:solidFill>
                  <a:srgbClr val="FF7A1A"/>
                </a:solidFill>
                <a:latin typeface="Calibri" pitchFamily="34" charset="0"/>
                <a:ea typeface="Calibri" pitchFamily="34" charset="-122"/>
                <a:cs typeface="Calibri" pitchFamily="34" charset="-120"/>
              </a:rPr>
              <a:t>DATA ANALYTICS</a:t>
            </a:r>
            <a:endParaRPr lang="en-US" sz="1200" dirty="0"/>
          </a:p>
        </p:txBody>
      </p:sp>
      <p:sp>
        <p:nvSpPr>
          <p:cNvPr id="3" name="Text 1"/>
          <p:cNvSpPr txBox="1"/>
          <p:nvPr/>
        </p:nvSpPr>
        <p:spPr>
          <a:xfrm>
            <a:off x="548640" y="749808"/>
            <a:ext cx="11094415" cy="914400"/>
          </a:xfrm>
          <a:prstGeom prst="rect">
            <a:avLst/>
          </a:prstGeom>
          <a:noFill/>
          <a:ln/>
        </p:spPr>
        <p:txBody>
          <a:bodyPr wrap="square" lIns="0" tIns="0" rIns="0" bIns="0" rtlCol="0" anchor="t"/>
          <a:lstStyle/>
          <a:p>
            <a:pPr indent="0" marL="0">
              <a:buNone/>
            </a:pPr>
            <a:r>
              <a:rPr lang="en-US" sz="3400" b="1" dirty="0">
                <a:solidFill>
                  <a:srgbClr val="E8EDF2"/>
                </a:solidFill>
                <a:latin typeface="Calibri" pitchFamily="34" charset="0"/>
                <a:ea typeface="Calibri" pitchFamily="34" charset="-122"/>
                <a:cs typeface="Calibri" pitchFamily="34" charset="-120"/>
              </a:rPr>
              <a:t>We let the data correct us</a:t>
            </a:r>
            <a:endParaRPr lang="en-US" sz="3400" dirty="0"/>
          </a:p>
        </p:txBody>
      </p:sp>
      <p:sp>
        <p:nvSpPr>
          <p:cNvPr id="4" name="Shape 2"/>
          <p:cNvSpPr/>
          <p:nvPr/>
        </p:nvSpPr>
        <p:spPr>
          <a:xfrm>
            <a:off x="548640" y="1920240"/>
            <a:ext cx="5422392" cy="1965960"/>
          </a:xfrm>
          <a:prstGeom prst="roundRect">
            <a:avLst>
              <a:gd name="adj" fmla="val 5581"/>
            </a:avLst>
          </a:prstGeom>
          <a:solidFill>
            <a:srgbClr val="151C25"/>
          </a:solidFill>
          <a:ln w="9525">
            <a:solidFill>
              <a:srgbClr val="2A3441"/>
            </a:solidFill>
            <a:prstDash val="solid"/>
          </a:ln>
        </p:spPr>
      </p:sp>
      <p:sp>
        <p:nvSpPr>
          <p:cNvPr id="5" name="Shape 3"/>
          <p:cNvSpPr/>
          <p:nvPr/>
        </p:nvSpPr>
        <p:spPr>
          <a:xfrm>
            <a:off x="822960" y="2194560"/>
            <a:ext cx="548640" cy="548640"/>
          </a:xfrm>
          <a:prstGeom prst="ellipse">
            <a:avLst/>
          </a:prstGeom>
          <a:solidFill>
            <a:srgbClr val="E5383B"/>
          </a:solidFill>
          <a:ln w="12700">
            <a:solidFill>
              <a:srgbClr val="E5383B"/>
            </a:solidFill>
            <a:prstDash val="solid"/>
          </a:ln>
        </p:spPr>
      </p:sp>
      <p:pic>
        <p:nvPicPr>
          <p:cNvPr id="6" name="Image 0" descr="preencoded.png">    </p:cNvPr>
          <p:cNvPicPr>
            <a:picLocks noChangeAspect="1"/>
          </p:cNvPicPr>
          <p:nvPr/>
        </p:nvPicPr>
        <p:blipFill>
          <a:blip r:embed="rId1"/>
          <a:stretch>
            <a:fillRect/>
          </a:stretch>
        </p:blipFill>
        <p:spPr>
          <a:xfrm>
            <a:off x="965606" y="2337206"/>
            <a:ext cx="263347" cy="263347"/>
          </a:xfrm>
          <a:prstGeom prst="rect">
            <a:avLst/>
          </a:prstGeom>
        </p:spPr>
      </p:pic>
      <p:sp>
        <p:nvSpPr>
          <p:cNvPr id="7" name="Text 4"/>
          <p:cNvSpPr txBox="1"/>
          <p:nvPr/>
        </p:nvSpPr>
        <p:spPr>
          <a:xfrm>
            <a:off x="1554480" y="2194560"/>
            <a:ext cx="4206240" cy="548640"/>
          </a:xfrm>
          <a:prstGeom prst="rect">
            <a:avLst/>
          </a:prstGeom>
          <a:noFill/>
          <a:ln/>
        </p:spPr>
        <p:txBody>
          <a:bodyPr wrap="square" lIns="0" tIns="0" rIns="0" bIns="0" rtlCol="0" anchor="ctr"/>
          <a:lstStyle/>
          <a:p>
            <a:pPr indent="0" marL="0">
              <a:buNone/>
            </a:pPr>
            <a:r>
              <a:rPr lang="en-US" sz="1900" b="1" dirty="0">
                <a:solidFill>
                  <a:srgbClr val="E8EDF2"/>
                </a:solidFill>
                <a:latin typeface="Calibri" pitchFamily="34" charset="0"/>
                <a:ea typeface="Calibri" pitchFamily="34" charset="-122"/>
                <a:cs typeface="Calibri" pitchFamily="34" charset="-120"/>
              </a:rPr>
              <a:t>Two heat campaigns disagree</a:t>
            </a:r>
            <a:endParaRPr lang="en-US" sz="1900" dirty="0"/>
          </a:p>
        </p:txBody>
      </p:sp>
      <p:sp>
        <p:nvSpPr>
          <p:cNvPr id="8" name="Text 5"/>
          <p:cNvSpPr txBox="1"/>
          <p:nvPr/>
        </p:nvSpPr>
        <p:spPr>
          <a:xfrm>
            <a:off x="1554480" y="2788920"/>
            <a:ext cx="4206240" cy="1005840"/>
          </a:xfrm>
          <a:prstGeom prst="rect">
            <a:avLst/>
          </a:prstGeom>
          <a:noFill/>
          <a:ln/>
        </p:spPr>
        <p:txBody>
          <a:bodyPr wrap="square" lIns="0" tIns="0" rIns="0" bIns="0" rtlCol="0" anchor="t"/>
          <a:lstStyle/>
          <a:p>
            <a:pPr indent="0" marL="0">
              <a:buNone/>
            </a:pPr>
            <a:r>
              <a:rPr lang="en-US" sz="1400" dirty="0">
                <a:solidFill>
                  <a:srgbClr val="9AA6B4"/>
                </a:solidFill>
                <a:latin typeface="Calibri" pitchFamily="34" charset="0"/>
                <a:ea typeface="Calibri" pitchFamily="34" charset="-122"/>
                <a:cs typeface="Calibri" pitchFamily="34" charset="-120"/>
              </a:rPr>
              <a:t>H3AT 2020 vs 2024 afternoon surfaces correlate at r = −0.19 on 360 shared cells — so we don’t blend them. 2020 is primary; 2024 fills only its gaps.</a:t>
            </a:r>
            <a:endParaRPr lang="en-US" sz="1400" dirty="0"/>
          </a:p>
        </p:txBody>
      </p:sp>
      <p:sp>
        <p:nvSpPr>
          <p:cNvPr id="9" name="Shape 6"/>
          <p:cNvSpPr/>
          <p:nvPr/>
        </p:nvSpPr>
        <p:spPr>
          <a:xfrm>
            <a:off x="6153912" y="1920240"/>
            <a:ext cx="5422392" cy="1965960"/>
          </a:xfrm>
          <a:prstGeom prst="roundRect">
            <a:avLst>
              <a:gd name="adj" fmla="val 5581"/>
            </a:avLst>
          </a:prstGeom>
          <a:solidFill>
            <a:srgbClr val="151C25"/>
          </a:solidFill>
          <a:ln w="9525">
            <a:solidFill>
              <a:srgbClr val="2A3441"/>
            </a:solidFill>
            <a:prstDash val="solid"/>
          </a:ln>
        </p:spPr>
      </p:sp>
      <p:sp>
        <p:nvSpPr>
          <p:cNvPr id="10" name="Shape 7"/>
          <p:cNvSpPr/>
          <p:nvPr/>
        </p:nvSpPr>
        <p:spPr>
          <a:xfrm>
            <a:off x="6428232" y="2194560"/>
            <a:ext cx="548640" cy="548640"/>
          </a:xfrm>
          <a:prstGeom prst="ellipse">
            <a:avLst/>
          </a:prstGeom>
          <a:solidFill>
            <a:srgbClr val="38BDF8"/>
          </a:solidFill>
          <a:ln w="12700">
            <a:solidFill>
              <a:srgbClr val="38BDF8"/>
            </a:solidFill>
            <a:prstDash val="solid"/>
          </a:ln>
        </p:spPr>
      </p:sp>
      <p:pic>
        <p:nvPicPr>
          <p:cNvPr id="11" name="Image 1" descr="preencoded.png">    </p:cNvPr>
          <p:cNvPicPr>
            <a:picLocks noChangeAspect="1"/>
          </p:cNvPicPr>
          <p:nvPr/>
        </p:nvPicPr>
        <p:blipFill>
          <a:blip r:embed="rId2"/>
          <a:stretch>
            <a:fillRect/>
          </a:stretch>
        </p:blipFill>
        <p:spPr>
          <a:xfrm>
            <a:off x="6570878" y="2337206"/>
            <a:ext cx="263347" cy="263347"/>
          </a:xfrm>
          <a:prstGeom prst="rect">
            <a:avLst/>
          </a:prstGeom>
        </p:spPr>
      </p:pic>
      <p:sp>
        <p:nvSpPr>
          <p:cNvPr id="12" name="Text 8"/>
          <p:cNvSpPr txBox="1"/>
          <p:nvPr/>
        </p:nvSpPr>
        <p:spPr>
          <a:xfrm>
            <a:off x="7159752" y="2194560"/>
            <a:ext cx="4206240" cy="548640"/>
          </a:xfrm>
          <a:prstGeom prst="rect">
            <a:avLst/>
          </a:prstGeom>
          <a:noFill/>
          <a:ln/>
        </p:spPr>
        <p:txBody>
          <a:bodyPr wrap="square" lIns="0" tIns="0" rIns="0" bIns="0" rtlCol="0" anchor="ctr"/>
          <a:lstStyle/>
          <a:p>
            <a:pPr indent="0" marL="0">
              <a:buNone/>
            </a:pPr>
            <a:r>
              <a:rPr lang="en-US" sz="1900" b="1" dirty="0">
                <a:solidFill>
                  <a:srgbClr val="E8EDF2"/>
                </a:solidFill>
                <a:latin typeface="Calibri" pitchFamily="34" charset="0"/>
                <a:ea typeface="Calibri" pitchFamily="34" charset="-122"/>
                <a:cs typeface="Calibri" pitchFamily="34" charset="-120"/>
              </a:rPr>
              <a:t>Gap-filling earns its place</a:t>
            </a:r>
            <a:endParaRPr lang="en-US" sz="1900" dirty="0"/>
          </a:p>
        </p:txBody>
      </p:sp>
      <p:sp>
        <p:nvSpPr>
          <p:cNvPr id="13" name="Text 9"/>
          <p:cNvSpPr txBox="1"/>
          <p:nvPr/>
        </p:nvSpPr>
        <p:spPr>
          <a:xfrm>
            <a:off x="7159752" y="2788920"/>
            <a:ext cx="4206240" cy="1005840"/>
          </a:xfrm>
          <a:prstGeom prst="rect">
            <a:avLst/>
          </a:prstGeom>
          <a:noFill/>
          <a:ln/>
        </p:spPr>
        <p:txBody>
          <a:bodyPr wrap="square" lIns="0" tIns="0" rIns="0" bIns="0" rtlCol="0" anchor="t"/>
          <a:lstStyle/>
          <a:p>
            <a:pPr indent="0" marL="0">
              <a:buNone/>
            </a:pPr>
            <a:r>
              <a:rPr lang="en-US" sz="1400" dirty="0">
                <a:solidFill>
                  <a:srgbClr val="9AA6B4"/>
                </a:solidFill>
                <a:latin typeface="Calibri" pitchFamily="34" charset="0"/>
                <a:ea typeface="Calibri" pitchFamily="34" charset="-122"/>
                <a:cs typeface="Calibri" pitchFamily="34" charset="-120"/>
              </a:rPr>
              <a:t>Interpolation is used only where spatial hold-out cross-validation beats a median fill (morning RMSE 1.99°F vs 2.72°F).</a:t>
            </a:r>
            <a:endParaRPr lang="en-US" sz="1400" dirty="0"/>
          </a:p>
        </p:txBody>
      </p:sp>
      <p:sp>
        <p:nvSpPr>
          <p:cNvPr id="14" name="Shape 10"/>
          <p:cNvSpPr/>
          <p:nvPr/>
        </p:nvSpPr>
        <p:spPr>
          <a:xfrm>
            <a:off x="548640" y="4069080"/>
            <a:ext cx="5422392" cy="1965960"/>
          </a:xfrm>
          <a:prstGeom prst="roundRect">
            <a:avLst>
              <a:gd name="adj" fmla="val 5581"/>
            </a:avLst>
          </a:prstGeom>
          <a:solidFill>
            <a:srgbClr val="151C25"/>
          </a:solidFill>
          <a:ln w="9525">
            <a:solidFill>
              <a:srgbClr val="2A3441"/>
            </a:solidFill>
            <a:prstDash val="solid"/>
          </a:ln>
        </p:spPr>
      </p:sp>
      <p:sp>
        <p:nvSpPr>
          <p:cNvPr id="15" name="Shape 11"/>
          <p:cNvSpPr/>
          <p:nvPr/>
        </p:nvSpPr>
        <p:spPr>
          <a:xfrm>
            <a:off x="822960" y="4343400"/>
            <a:ext cx="548640" cy="548640"/>
          </a:xfrm>
          <a:prstGeom prst="ellipse">
            <a:avLst/>
          </a:prstGeom>
          <a:solidFill>
            <a:srgbClr val="2FBF71"/>
          </a:solidFill>
          <a:ln w="12700">
            <a:solidFill>
              <a:srgbClr val="2FBF71"/>
            </a:solidFill>
            <a:prstDash val="solid"/>
          </a:ln>
        </p:spPr>
      </p:sp>
      <p:pic>
        <p:nvPicPr>
          <p:cNvPr id="16" name="Image 2" descr="preencoded.png">    </p:cNvPr>
          <p:cNvPicPr>
            <a:picLocks noChangeAspect="1"/>
          </p:cNvPicPr>
          <p:nvPr/>
        </p:nvPicPr>
        <p:blipFill>
          <a:blip r:embed="rId3"/>
          <a:stretch>
            <a:fillRect/>
          </a:stretch>
        </p:blipFill>
        <p:spPr>
          <a:xfrm>
            <a:off x="965606" y="4486046"/>
            <a:ext cx="263347" cy="263347"/>
          </a:xfrm>
          <a:prstGeom prst="rect">
            <a:avLst/>
          </a:prstGeom>
        </p:spPr>
      </p:pic>
      <p:sp>
        <p:nvSpPr>
          <p:cNvPr id="17" name="Text 12"/>
          <p:cNvSpPr txBox="1"/>
          <p:nvPr/>
        </p:nvSpPr>
        <p:spPr>
          <a:xfrm>
            <a:off x="1554480" y="4343400"/>
            <a:ext cx="4206240" cy="548640"/>
          </a:xfrm>
          <a:prstGeom prst="rect">
            <a:avLst/>
          </a:prstGeom>
          <a:noFill/>
          <a:ln/>
        </p:spPr>
        <p:txBody>
          <a:bodyPr wrap="square" lIns="0" tIns="0" rIns="0" bIns="0" rtlCol="0" anchor="ctr"/>
          <a:lstStyle/>
          <a:p>
            <a:pPr indent="0" marL="0">
              <a:buNone/>
            </a:pPr>
            <a:r>
              <a:rPr lang="en-US" sz="1900" b="1" dirty="0">
                <a:solidFill>
                  <a:srgbClr val="E8EDF2"/>
                </a:solidFill>
                <a:latin typeface="Calibri" pitchFamily="34" charset="0"/>
                <a:ea typeface="Calibri" pitchFamily="34" charset="-122"/>
                <a:cs typeface="Calibri" pitchFamily="34" charset="-120"/>
              </a:rPr>
              <a:t>Caught a silent coverage gap</a:t>
            </a:r>
            <a:endParaRPr lang="en-US" sz="1900" dirty="0"/>
          </a:p>
        </p:txBody>
      </p:sp>
      <p:sp>
        <p:nvSpPr>
          <p:cNvPr id="18" name="Text 13"/>
          <p:cNvSpPr txBox="1"/>
          <p:nvPr/>
        </p:nvSpPr>
        <p:spPr>
          <a:xfrm>
            <a:off x="1554480" y="4937760"/>
            <a:ext cx="4206240" cy="1005840"/>
          </a:xfrm>
          <a:prstGeom prst="rect">
            <a:avLst/>
          </a:prstGeom>
          <a:noFill/>
          <a:ln/>
        </p:spPr>
        <p:txBody>
          <a:bodyPr wrap="square" lIns="0" tIns="0" rIns="0" bIns="0" rtlCol="0" anchor="t"/>
          <a:lstStyle/>
          <a:p>
            <a:pPr indent="0" marL="0">
              <a:buNone/>
            </a:pPr>
            <a:r>
              <a:rPr lang="en-US" sz="1400" dirty="0">
                <a:solidFill>
                  <a:srgbClr val="9AA6B4"/>
                </a:solidFill>
                <a:latin typeface="Calibri" pitchFamily="34" charset="0"/>
                <a:ea typeface="Calibri" pitchFamily="34" charset="-122"/>
                <a:cs typeface="Calibri" pitchFamily="34" charset="-120"/>
              </a:rPr>
              <a:t>LiDAR canopy only covers focus areas (Hermann Park read 0%). Scoring switched to full-coverage USFS canopy; LiDAR stays as evidence.</a:t>
            </a:r>
            <a:endParaRPr lang="en-US" sz="1400" dirty="0"/>
          </a:p>
        </p:txBody>
      </p:sp>
      <p:sp>
        <p:nvSpPr>
          <p:cNvPr id="19" name="Shape 14"/>
          <p:cNvSpPr/>
          <p:nvPr/>
        </p:nvSpPr>
        <p:spPr>
          <a:xfrm>
            <a:off x="6153912" y="4069080"/>
            <a:ext cx="5422392" cy="1965960"/>
          </a:xfrm>
          <a:prstGeom prst="roundRect">
            <a:avLst>
              <a:gd name="adj" fmla="val 5581"/>
            </a:avLst>
          </a:prstGeom>
          <a:solidFill>
            <a:srgbClr val="151C25"/>
          </a:solidFill>
          <a:ln w="9525">
            <a:solidFill>
              <a:srgbClr val="2A3441"/>
            </a:solidFill>
            <a:prstDash val="solid"/>
          </a:ln>
        </p:spPr>
      </p:sp>
      <p:sp>
        <p:nvSpPr>
          <p:cNvPr id="20" name="Shape 15"/>
          <p:cNvSpPr/>
          <p:nvPr/>
        </p:nvSpPr>
        <p:spPr>
          <a:xfrm>
            <a:off x="6428232" y="4343400"/>
            <a:ext cx="548640" cy="548640"/>
          </a:xfrm>
          <a:prstGeom prst="ellipse">
            <a:avLst/>
          </a:prstGeom>
          <a:solidFill>
            <a:srgbClr val="FF7A1A"/>
          </a:solidFill>
          <a:ln w="12700">
            <a:solidFill>
              <a:srgbClr val="FF7A1A"/>
            </a:solidFill>
            <a:prstDash val="solid"/>
          </a:ln>
        </p:spPr>
      </p:sp>
      <p:pic>
        <p:nvPicPr>
          <p:cNvPr id="21" name="Image 3" descr="preencoded.png">    </p:cNvPr>
          <p:cNvPicPr>
            <a:picLocks noChangeAspect="1"/>
          </p:cNvPicPr>
          <p:nvPr/>
        </p:nvPicPr>
        <p:blipFill>
          <a:blip r:embed="rId4"/>
          <a:stretch>
            <a:fillRect/>
          </a:stretch>
        </p:blipFill>
        <p:spPr>
          <a:xfrm>
            <a:off x="6570878" y="4486046"/>
            <a:ext cx="263347" cy="263347"/>
          </a:xfrm>
          <a:prstGeom prst="rect">
            <a:avLst/>
          </a:prstGeom>
        </p:spPr>
      </p:pic>
      <p:sp>
        <p:nvSpPr>
          <p:cNvPr id="22" name="Text 16"/>
          <p:cNvSpPr txBox="1"/>
          <p:nvPr/>
        </p:nvSpPr>
        <p:spPr>
          <a:xfrm>
            <a:off x="7159752" y="4343400"/>
            <a:ext cx="4206240" cy="548640"/>
          </a:xfrm>
          <a:prstGeom prst="rect">
            <a:avLst/>
          </a:prstGeom>
          <a:noFill/>
          <a:ln/>
        </p:spPr>
        <p:txBody>
          <a:bodyPr wrap="square" lIns="0" tIns="0" rIns="0" bIns="0" rtlCol="0" anchor="ctr"/>
          <a:lstStyle/>
          <a:p>
            <a:pPr indent="0" marL="0">
              <a:buNone/>
            </a:pPr>
            <a:r>
              <a:rPr lang="en-US" sz="1900" b="1" dirty="0">
                <a:solidFill>
                  <a:srgbClr val="E8EDF2"/>
                </a:solidFill>
                <a:latin typeface="Calibri" pitchFamily="34" charset="0"/>
                <a:ea typeface="Calibri" pitchFamily="34" charset="-122"/>
                <a:cs typeface="Calibri" pitchFamily="34" charset="-120"/>
              </a:rPr>
              <a:t>Verified, fast, reproducible</a:t>
            </a:r>
            <a:endParaRPr lang="en-US" sz="1900" dirty="0"/>
          </a:p>
        </p:txBody>
      </p:sp>
      <p:sp>
        <p:nvSpPr>
          <p:cNvPr id="23" name="Text 17"/>
          <p:cNvSpPr txBox="1"/>
          <p:nvPr/>
        </p:nvSpPr>
        <p:spPr>
          <a:xfrm>
            <a:off x="7159752" y="4937760"/>
            <a:ext cx="4206240" cy="1005840"/>
          </a:xfrm>
          <a:prstGeom prst="rect">
            <a:avLst/>
          </a:prstGeom>
          <a:noFill/>
          <a:ln/>
        </p:spPr>
        <p:txBody>
          <a:bodyPr wrap="square" lIns="0" tIns="0" rIns="0" bIns="0" rtlCol="0" anchor="t"/>
          <a:lstStyle/>
          <a:p>
            <a:pPr indent="0" marL="0">
              <a:buNone/>
            </a:pPr>
            <a:r>
              <a:rPr lang="en-US" sz="1400" dirty="0">
                <a:solidFill>
                  <a:srgbClr val="9AA6B4"/>
                </a:solidFill>
                <a:latin typeface="Calibri" pitchFamily="34" charset="0"/>
                <a:ea typeface="Calibri" pitchFamily="34" charset="-122"/>
                <a:cs typeface="Calibri" pitchFamily="34" charset="-120"/>
              </a:rPr>
              <a:t>Optimizer burden matches a full re-score exactly (0.0000% difference). 3 ms per full evaluation. One command rebuilds the dataset.</a:t>
            </a:r>
            <a:endParaRPr lang="en-US" sz="1400" dirty="0"/>
          </a:p>
        </p:txBody>
      </p:sp>
      <p:sp>
        <p:nvSpPr>
          <p:cNvPr id="25" name="Text 18"/>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1000" dirty="0">
                <a:solidFill>
                  <a:srgbClr val="6B7788"/>
                </a:solidFill>
                <a:latin typeface="Calibri" pitchFamily="34" charset="0"/>
                <a:ea typeface="Calibri" pitchFamily="34" charset="-122"/>
                <a:cs typeface="Calibri" pitchFamily="34" charset="-120"/>
              </a:rPr>
              <a:t>HeatShield 26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D12"/>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200" b="1" spc="300" kern="0" dirty="0">
                <a:solidFill>
                  <a:srgbClr val="FF7A1A"/>
                </a:solidFill>
                <a:latin typeface="Calibri" pitchFamily="34" charset="0"/>
                <a:ea typeface="Calibri" pitchFamily="34" charset="-122"/>
                <a:cs typeface="Calibri" pitchFamily="34" charset="-120"/>
              </a:rPr>
              <a:t>IMPACT &amp; LEGACY</a:t>
            </a:r>
            <a:endParaRPr lang="en-US" sz="1200" dirty="0"/>
          </a:p>
        </p:txBody>
      </p:sp>
      <p:sp>
        <p:nvSpPr>
          <p:cNvPr id="3" name="Text 1"/>
          <p:cNvSpPr txBox="1"/>
          <p:nvPr/>
        </p:nvSpPr>
        <p:spPr>
          <a:xfrm>
            <a:off x="548640" y="749808"/>
            <a:ext cx="11094415" cy="914400"/>
          </a:xfrm>
          <a:prstGeom prst="rect">
            <a:avLst/>
          </a:prstGeom>
          <a:noFill/>
          <a:ln/>
        </p:spPr>
        <p:txBody>
          <a:bodyPr wrap="square" lIns="0" tIns="0" rIns="0" bIns="0" rtlCol="0" anchor="t"/>
          <a:lstStyle/>
          <a:p>
            <a:pPr indent="0" marL="0">
              <a:buNone/>
            </a:pPr>
            <a:r>
              <a:rPr lang="en-US" sz="3400" b="1" dirty="0">
                <a:solidFill>
                  <a:srgbClr val="E8EDF2"/>
                </a:solidFill>
                <a:latin typeface="Calibri" pitchFamily="34" charset="0"/>
                <a:ea typeface="Calibri" pitchFamily="34" charset="-122"/>
                <a:cs typeface="Calibri" pitchFamily="34" charset="-120"/>
              </a:rPr>
              <a:t>FIFA is the stress test. Every future event is the use case.</a:t>
            </a:r>
            <a:endParaRPr lang="en-US" sz="3400" dirty="0"/>
          </a:p>
        </p:txBody>
      </p:sp>
      <p:sp>
        <p:nvSpPr>
          <p:cNvPr id="4" name="Shape 2"/>
          <p:cNvSpPr/>
          <p:nvPr/>
        </p:nvSpPr>
        <p:spPr>
          <a:xfrm>
            <a:off x="548640" y="1965960"/>
            <a:ext cx="3547872" cy="3429000"/>
          </a:xfrm>
          <a:prstGeom prst="roundRect">
            <a:avLst>
              <a:gd name="adj" fmla="val 3200"/>
            </a:avLst>
          </a:prstGeom>
          <a:solidFill>
            <a:srgbClr val="151C25"/>
          </a:solidFill>
          <a:ln w="9525">
            <a:solidFill>
              <a:srgbClr val="2A3441"/>
            </a:solidFill>
            <a:prstDash val="solid"/>
          </a:ln>
        </p:spPr>
      </p:sp>
      <p:sp>
        <p:nvSpPr>
          <p:cNvPr id="5" name="Shape 3"/>
          <p:cNvSpPr/>
          <p:nvPr/>
        </p:nvSpPr>
        <p:spPr>
          <a:xfrm>
            <a:off x="822960" y="2240280"/>
            <a:ext cx="566928" cy="566928"/>
          </a:xfrm>
          <a:prstGeom prst="ellipse">
            <a:avLst/>
          </a:prstGeom>
          <a:solidFill>
            <a:srgbClr val="E5383B"/>
          </a:solidFill>
          <a:ln w="12700">
            <a:solidFill>
              <a:srgbClr val="E5383B"/>
            </a:solidFill>
            <a:prstDash val="solid"/>
          </a:ln>
        </p:spPr>
      </p:sp>
      <p:pic>
        <p:nvPicPr>
          <p:cNvPr id="6" name="Image 0" descr="preencoded.png">    </p:cNvPr>
          <p:cNvPicPr>
            <a:picLocks noChangeAspect="1"/>
          </p:cNvPicPr>
          <p:nvPr/>
        </p:nvPicPr>
        <p:blipFill>
          <a:blip r:embed="rId1"/>
          <a:stretch>
            <a:fillRect/>
          </a:stretch>
        </p:blipFill>
        <p:spPr>
          <a:xfrm>
            <a:off x="970361" y="2387681"/>
            <a:ext cx="272125" cy="272125"/>
          </a:xfrm>
          <a:prstGeom prst="rect">
            <a:avLst/>
          </a:prstGeom>
        </p:spPr>
      </p:pic>
      <p:sp>
        <p:nvSpPr>
          <p:cNvPr id="7" name="Text 4"/>
          <p:cNvSpPr txBox="1"/>
          <p:nvPr/>
        </p:nvSpPr>
        <p:spPr>
          <a:xfrm>
            <a:off x="1554480" y="2240280"/>
            <a:ext cx="2377440" cy="566928"/>
          </a:xfrm>
          <a:prstGeom prst="rect">
            <a:avLst/>
          </a:prstGeom>
          <a:noFill/>
          <a:ln/>
        </p:spPr>
        <p:txBody>
          <a:bodyPr wrap="square" lIns="0" tIns="0" rIns="0" bIns="0" rtlCol="0" anchor="ctr"/>
          <a:lstStyle/>
          <a:p>
            <a:pPr indent="0" marL="0">
              <a:buNone/>
            </a:pPr>
            <a:r>
              <a:rPr lang="en-US" sz="2200" b="1" dirty="0">
                <a:solidFill>
                  <a:srgbClr val="E8EDF2"/>
                </a:solidFill>
                <a:latin typeface="Calibri" pitchFamily="34" charset="0"/>
                <a:ea typeface="Calibri" pitchFamily="34" charset="-122"/>
                <a:cs typeface="Calibri" pitchFamily="34" charset="-120"/>
              </a:rPr>
              <a:t>Impact</a:t>
            </a:r>
            <a:endParaRPr lang="en-US" sz="2200" dirty="0"/>
          </a:p>
        </p:txBody>
      </p:sp>
      <p:sp>
        <p:nvSpPr>
          <p:cNvPr id="8" name="Text 5"/>
          <p:cNvSpPr txBox="1"/>
          <p:nvPr/>
        </p:nvSpPr>
        <p:spPr>
          <a:xfrm>
            <a:off x="822960" y="3017520"/>
            <a:ext cx="3063240" cy="2240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9AA6B4"/>
                </a:solidFill>
                <a:latin typeface="Calibri" pitchFamily="34" charset="0"/>
                <a:ea typeface="Calibri" pitchFamily="34" charset="-122"/>
                <a:cs typeface="Calibri" pitchFamily="34" charset="-120"/>
              </a:rPr>
              <a:t>Protects visitors and the vulnerable neighborhoods around them</a:t>
            </a:r>
            <a:endParaRPr lang="en-US" sz="1500" dirty="0"/>
          </a:p>
          <a:p>
            <a:pPr marL="342900" indent="-342900">
              <a:spcAft>
                <a:spcPts val="800"/>
              </a:spcAft>
              <a:buSzPct val="100000"/>
              <a:buChar char="•"/>
            </a:pPr>
            <a:r>
              <a:rPr lang="en-US" sz="1500" dirty="0">
                <a:solidFill>
                  <a:srgbClr val="9AA6B4"/>
                </a:solidFill>
                <a:latin typeface="Calibri" pitchFamily="34" charset="0"/>
                <a:ea typeface="Calibri" pitchFamily="34" charset="-122"/>
                <a:cs typeface="Calibri" pitchFamily="34" charset="-120"/>
              </a:rPr>
              <a:t>Targets money where people, heat and vulnerability overlap</a:t>
            </a:r>
            <a:endParaRPr lang="en-US" sz="1500" dirty="0"/>
          </a:p>
        </p:txBody>
      </p:sp>
      <p:sp>
        <p:nvSpPr>
          <p:cNvPr id="9" name="Shape 6"/>
          <p:cNvSpPr/>
          <p:nvPr/>
        </p:nvSpPr>
        <p:spPr>
          <a:xfrm>
            <a:off x="4279392" y="1965960"/>
            <a:ext cx="3547872" cy="3429000"/>
          </a:xfrm>
          <a:prstGeom prst="roundRect">
            <a:avLst>
              <a:gd name="adj" fmla="val 3200"/>
            </a:avLst>
          </a:prstGeom>
          <a:solidFill>
            <a:srgbClr val="151C25"/>
          </a:solidFill>
          <a:ln w="9525">
            <a:solidFill>
              <a:srgbClr val="2A3441"/>
            </a:solidFill>
            <a:prstDash val="solid"/>
          </a:ln>
        </p:spPr>
      </p:sp>
      <p:sp>
        <p:nvSpPr>
          <p:cNvPr id="10" name="Shape 7"/>
          <p:cNvSpPr/>
          <p:nvPr/>
        </p:nvSpPr>
        <p:spPr>
          <a:xfrm>
            <a:off x="4553712" y="2240280"/>
            <a:ext cx="566928" cy="566928"/>
          </a:xfrm>
          <a:prstGeom prst="ellipse">
            <a:avLst/>
          </a:prstGeom>
          <a:solidFill>
            <a:srgbClr val="38BDF8"/>
          </a:solidFill>
          <a:ln w="12700">
            <a:solidFill>
              <a:srgbClr val="38BDF8"/>
            </a:solidFill>
            <a:prstDash val="solid"/>
          </a:ln>
        </p:spPr>
      </p:sp>
      <p:pic>
        <p:nvPicPr>
          <p:cNvPr id="11" name="Image 1" descr="preencoded.png">    </p:cNvPr>
          <p:cNvPicPr>
            <a:picLocks noChangeAspect="1"/>
          </p:cNvPicPr>
          <p:nvPr/>
        </p:nvPicPr>
        <p:blipFill>
          <a:blip r:embed="rId2"/>
          <a:stretch>
            <a:fillRect/>
          </a:stretch>
        </p:blipFill>
        <p:spPr>
          <a:xfrm>
            <a:off x="4701113" y="2387681"/>
            <a:ext cx="272125" cy="272125"/>
          </a:xfrm>
          <a:prstGeom prst="rect">
            <a:avLst/>
          </a:prstGeom>
        </p:spPr>
      </p:pic>
      <p:sp>
        <p:nvSpPr>
          <p:cNvPr id="12" name="Text 8"/>
          <p:cNvSpPr txBox="1"/>
          <p:nvPr/>
        </p:nvSpPr>
        <p:spPr>
          <a:xfrm>
            <a:off x="5285232" y="2240280"/>
            <a:ext cx="2377440" cy="566928"/>
          </a:xfrm>
          <a:prstGeom prst="rect">
            <a:avLst/>
          </a:prstGeom>
          <a:noFill/>
          <a:ln/>
        </p:spPr>
        <p:txBody>
          <a:bodyPr wrap="square" lIns="0" tIns="0" rIns="0" bIns="0" rtlCol="0" anchor="ctr"/>
          <a:lstStyle/>
          <a:p>
            <a:pPr indent="0" marL="0">
              <a:buNone/>
            </a:pPr>
            <a:r>
              <a:rPr lang="en-US" sz="2200" b="1" dirty="0">
                <a:solidFill>
                  <a:srgbClr val="E8EDF2"/>
                </a:solidFill>
                <a:latin typeface="Calibri" pitchFamily="34" charset="0"/>
                <a:ea typeface="Calibri" pitchFamily="34" charset="-122"/>
                <a:cs typeface="Calibri" pitchFamily="34" charset="-120"/>
              </a:rPr>
              <a:t>Feasible now</a:t>
            </a:r>
            <a:endParaRPr lang="en-US" sz="2200" dirty="0"/>
          </a:p>
        </p:txBody>
      </p:sp>
      <p:sp>
        <p:nvSpPr>
          <p:cNvPr id="13" name="Text 9"/>
          <p:cNvSpPr txBox="1"/>
          <p:nvPr/>
        </p:nvSpPr>
        <p:spPr>
          <a:xfrm>
            <a:off x="4553712" y="3017520"/>
            <a:ext cx="3063240" cy="2240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9AA6B4"/>
                </a:solidFill>
                <a:latin typeface="Calibri" pitchFamily="34" charset="0"/>
                <a:ea typeface="Calibri" pitchFamily="34" charset="-122"/>
                <a:cs typeface="Calibri" pitchFamily="34" charset="-120"/>
              </a:rPr>
              <a:t>Uses only open data Houston already publishes</a:t>
            </a:r>
            <a:endParaRPr lang="en-US" sz="1500" dirty="0"/>
          </a:p>
          <a:p>
            <a:pPr marL="342900" indent="-342900">
              <a:spcAft>
                <a:spcPts val="800"/>
              </a:spcAft>
              <a:buSzPct val="100000"/>
              <a:buChar char="•"/>
            </a:pPr>
            <a:r>
              <a:rPr lang="en-US" sz="1500" dirty="0">
                <a:solidFill>
                  <a:srgbClr val="9AA6B4"/>
                </a:solidFill>
                <a:latin typeface="Calibri" pitchFamily="34" charset="0"/>
                <a:ea typeface="Calibri" pitchFamily="34" charset="-122"/>
                <a:cs typeface="Calibri" pitchFamily="34" charset="-120"/>
              </a:rPr>
              <a:t>Actions a city can buy: tents, shade, water, shuttles</a:t>
            </a:r>
            <a:endParaRPr lang="en-US" sz="1500" dirty="0"/>
          </a:p>
          <a:p>
            <a:pPr marL="342900" indent="-342900">
              <a:spcAft>
                <a:spcPts val="800"/>
              </a:spcAft>
              <a:buSzPct val="100000"/>
              <a:buChar char="•"/>
            </a:pPr>
            <a:r>
              <a:rPr lang="en-US" sz="1500" dirty="0">
                <a:solidFill>
                  <a:srgbClr val="9AA6B4"/>
                </a:solidFill>
                <a:latin typeface="Calibri" pitchFamily="34" charset="0"/>
                <a:ea typeface="Calibri" pitchFamily="34" charset="-122"/>
                <a:cs typeface="Calibri" pitchFamily="34" charset="-120"/>
              </a:rPr>
              <a:t>Runs in a browser; no database to maintain</a:t>
            </a:r>
            <a:endParaRPr lang="en-US" sz="1500" dirty="0"/>
          </a:p>
        </p:txBody>
      </p:sp>
      <p:sp>
        <p:nvSpPr>
          <p:cNvPr id="14" name="Shape 10"/>
          <p:cNvSpPr/>
          <p:nvPr/>
        </p:nvSpPr>
        <p:spPr>
          <a:xfrm>
            <a:off x="8010144" y="1965960"/>
            <a:ext cx="3547872" cy="3429000"/>
          </a:xfrm>
          <a:prstGeom prst="roundRect">
            <a:avLst>
              <a:gd name="adj" fmla="val 3200"/>
            </a:avLst>
          </a:prstGeom>
          <a:solidFill>
            <a:srgbClr val="151C25"/>
          </a:solidFill>
          <a:ln w="9525">
            <a:solidFill>
              <a:srgbClr val="2A3441"/>
            </a:solidFill>
            <a:prstDash val="solid"/>
          </a:ln>
        </p:spPr>
      </p:sp>
      <p:sp>
        <p:nvSpPr>
          <p:cNvPr id="15" name="Shape 11"/>
          <p:cNvSpPr/>
          <p:nvPr/>
        </p:nvSpPr>
        <p:spPr>
          <a:xfrm>
            <a:off x="8284464" y="2240280"/>
            <a:ext cx="566928" cy="566928"/>
          </a:xfrm>
          <a:prstGeom prst="ellipse">
            <a:avLst/>
          </a:prstGeom>
          <a:solidFill>
            <a:srgbClr val="2FBF71"/>
          </a:solidFill>
          <a:ln w="12700">
            <a:solidFill>
              <a:srgbClr val="2FBF71"/>
            </a:solidFill>
            <a:prstDash val="solid"/>
          </a:ln>
        </p:spPr>
      </p:sp>
      <p:pic>
        <p:nvPicPr>
          <p:cNvPr id="16" name="Image 2" descr="preencoded.png">    </p:cNvPr>
          <p:cNvPicPr>
            <a:picLocks noChangeAspect="1"/>
          </p:cNvPicPr>
          <p:nvPr/>
        </p:nvPicPr>
        <p:blipFill>
          <a:blip r:embed="rId3"/>
          <a:stretch>
            <a:fillRect/>
          </a:stretch>
        </p:blipFill>
        <p:spPr>
          <a:xfrm>
            <a:off x="8431865" y="2387681"/>
            <a:ext cx="272125" cy="272125"/>
          </a:xfrm>
          <a:prstGeom prst="rect">
            <a:avLst/>
          </a:prstGeom>
        </p:spPr>
      </p:pic>
      <p:sp>
        <p:nvSpPr>
          <p:cNvPr id="17" name="Text 12"/>
          <p:cNvSpPr txBox="1"/>
          <p:nvPr/>
        </p:nvSpPr>
        <p:spPr>
          <a:xfrm>
            <a:off x="9015984" y="2240280"/>
            <a:ext cx="2377440" cy="566928"/>
          </a:xfrm>
          <a:prstGeom prst="rect">
            <a:avLst/>
          </a:prstGeom>
          <a:noFill/>
          <a:ln/>
        </p:spPr>
        <p:txBody>
          <a:bodyPr wrap="square" lIns="0" tIns="0" rIns="0" bIns="0" rtlCol="0" anchor="ctr"/>
          <a:lstStyle/>
          <a:p>
            <a:pPr indent="0" marL="0">
              <a:buNone/>
            </a:pPr>
            <a:r>
              <a:rPr lang="en-US" sz="2200" b="1" dirty="0">
                <a:solidFill>
                  <a:srgbClr val="E8EDF2"/>
                </a:solidFill>
                <a:latin typeface="Calibri" pitchFamily="34" charset="0"/>
                <a:ea typeface="Calibri" pitchFamily="34" charset="-122"/>
                <a:cs typeface="Calibri" pitchFamily="34" charset="-120"/>
              </a:rPr>
              <a:t>Reusable</a:t>
            </a:r>
            <a:endParaRPr lang="en-US" sz="2200" dirty="0"/>
          </a:p>
        </p:txBody>
      </p:sp>
      <p:sp>
        <p:nvSpPr>
          <p:cNvPr id="18" name="Text 13"/>
          <p:cNvSpPr txBox="1"/>
          <p:nvPr/>
        </p:nvSpPr>
        <p:spPr>
          <a:xfrm>
            <a:off x="8284464" y="3017520"/>
            <a:ext cx="3063240" cy="2240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9AA6B4"/>
                </a:solidFill>
                <a:latin typeface="Calibri" pitchFamily="34" charset="0"/>
                <a:ea typeface="Calibri" pitchFamily="34" charset="-122"/>
                <a:cs typeface="Calibri" pitchFamily="34" charset="-120"/>
              </a:rPr>
              <a:t>Texans games and the Rodeo at NRG Park</a:t>
            </a:r>
            <a:endParaRPr lang="en-US" sz="1500" dirty="0"/>
          </a:p>
          <a:p>
            <a:pPr marL="342900" indent="-342900">
              <a:spcAft>
                <a:spcPts val="800"/>
              </a:spcAft>
              <a:buSzPct val="100000"/>
              <a:buChar char="•"/>
            </a:pPr>
            <a:r>
              <a:rPr lang="en-US" sz="1500" dirty="0">
                <a:solidFill>
                  <a:srgbClr val="9AA6B4"/>
                </a:solidFill>
                <a:latin typeface="Calibri" pitchFamily="34" charset="0"/>
                <a:ea typeface="Calibri" pitchFamily="34" charset="-122"/>
                <a:cs typeface="Calibri" pitchFamily="34" charset="-120"/>
              </a:rPr>
              <a:t>Marathons, festivals, heat emergencies</a:t>
            </a:r>
            <a:endParaRPr lang="en-US" sz="1500" dirty="0"/>
          </a:p>
          <a:p>
            <a:pPr marL="342900" indent="-342900">
              <a:spcAft>
                <a:spcPts val="800"/>
              </a:spcAft>
              <a:buSzPct val="100000"/>
              <a:buChar char="•"/>
            </a:pPr>
            <a:r>
              <a:rPr lang="en-US" sz="1500" dirty="0">
                <a:solidFill>
                  <a:srgbClr val="9AA6B4"/>
                </a:solidFill>
                <a:latin typeface="Calibri" pitchFamily="34" charset="0"/>
                <a:ea typeface="Calibri" pitchFamily="34" charset="-122"/>
                <a:cs typeface="Calibri" pitchFamily="34" charset="-120"/>
              </a:rPr>
              <a:t>Cooling hubs become neighborhood resilience hubs</a:t>
            </a:r>
            <a:endParaRPr lang="en-US" sz="1500" dirty="0"/>
          </a:p>
        </p:txBody>
      </p:sp>
      <p:sp>
        <p:nvSpPr>
          <p:cNvPr id="19" name="Text 14"/>
          <p:cNvSpPr txBox="1"/>
          <p:nvPr/>
        </p:nvSpPr>
        <p:spPr>
          <a:xfrm>
            <a:off x="548640" y="5715000"/>
            <a:ext cx="10972800" cy="411480"/>
          </a:xfrm>
          <a:prstGeom prst="rect">
            <a:avLst/>
          </a:prstGeom>
          <a:noFill/>
          <a:ln/>
        </p:spPr>
        <p:txBody>
          <a:bodyPr wrap="square" lIns="0" tIns="0" rIns="0" bIns="0" rtlCol="0" anchor="ctr"/>
          <a:lstStyle/>
          <a:p>
            <a:pPr indent="0" marL="0">
              <a:buNone/>
            </a:pPr>
            <a:r>
              <a:rPr lang="en-US" sz="1700" i="1" dirty="0">
                <a:solidFill>
                  <a:srgbClr val="E8EDF2"/>
                </a:solidFill>
                <a:latin typeface="Calibri" pitchFamily="34" charset="0"/>
                <a:ea typeface="Calibri" pitchFamily="34" charset="-122"/>
                <a:cs typeface="Calibri" pitchFamily="34" charset="-120"/>
              </a:rPr>
              <a:t>Swap the venue, attendance and arrival assumptions — the same pipeline plans the next event.</a:t>
            </a:r>
            <a:endParaRPr lang="en-US" sz="1700" dirty="0"/>
          </a:p>
        </p:txBody>
      </p:sp>
      <p:sp>
        <p:nvSpPr>
          <p:cNvPr id="21" name="Text 15"/>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1000" dirty="0">
                <a:solidFill>
                  <a:srgbClr val="6B7788"/>
                </a:solidFill>
                <a:latin typeface="Calibri" pitchFamily="34" charset="0"/>
                <a:ea typeface="Calibri" pitchFamily="34" charset="-122"/>
                <a:cs typeface="Calibri" pitchFamily="34" charset="-120"/>
              </a:rPr>
              <a:t>HeatShield 26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D12"/>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200" b="1" spc="300" kern="0" dirty="0">
                <a:solidFill>
                  <a:srgbClr val="FF7A1A"/>
                </a:solidFill>
                <a:latin typeface="Calibri" pitchFamily="34" charset="0"/>
                <a:ea typeface="Calibri" pitchFamily="34" charset="-122"/>
                <a:cs typeface="Calibri" pitchFamily="34" charset="-120"/>
              </a:rPr>
              <a:t>HOW IT'S BUILT</a:t>
            </a:r>
            <a:endParaRPr lang="en-US" sz="1200" dirty="0"/>
          </a:p>
        </p:txBody>
      </p:sp>
      <p:sp>
        <p:nvSpPr>
          <p:cNvPr id="3" name="Text 1"/>
          <p:cNvSpPr txBox="1"/>
          <p:nvPr/>
        </p:nvSpPr>
        <p:spPr>
          <a:xfrm>
            <a:off x="548640" y="749808"/>
            <a:ext cx="11094415" cy="914400"/>
          </a:xfrm>
          <a:prstGeom prst="rect">
            <a:avLst/>
          </a:prstGeom>
          <a:noFill/>
          <a:ln/>
        </p:spPr>
        <p:txBody>
          <a:bodyPr wrap="square" lIns="0" tIns="0" rIns="0" bIns="0" rtlCol="0" anchor="t"/>
          <a:lstStyle/>
          <a:p>
            <a:pPr indent="0" marL="0">
              <a:buNone/>
            </a:pPr>
            <a:r>
              <a:rPr lang="en-US" sz="3400" b="1" dirty="0">
                <a:solidFill>
                  <a:srgbClr val="E8EDF2"/>
                </a:solidFill>
                <a:latin typeface="Calibri" pitchFamily="34" charset="0"/>
                <a:ea typeface="Calibri" pitchFamily="34" charset="-122"/>
                <a:cs typeface="Calibri" pitchFamily="34" charset="-120"/>
              </a:rPr>
              <a:t>Built for the hackathon, end to end</a:t>
            </a:r>
            <a:endParaRPr lang="en-US" sz="3400" dirty="0"/>
          </a:p>
        </p:txBody>
      </p:sp>
      <p:sp>
        <p:nvSpPr>
          <p:cNvPr id="4" name="Shape 2"/>
          <p:cNvSpPr/>
          <p:nvPr/>
        </p:nvSpPr>
        <p:spPr>
          <a:xfrm>
            <a:off x="548640" y="1874520"/>
            <a:ext cx="5852160" cy="932688"/>
          </a:xfrm>
          <a:prstGeom prst="roundRect">
            <a:avLst>
              <a:gd name="adj" fmla="val 11765"/>
            </a:avLst>
          </a:prstGeom>
          <a:solidFill>
            <a:srgbClr val="151C25"/>
          </a:solidFill>
          <a:ln w="9525">
            <a:solidFill>
              <a:srgbClr val="2A3441"/>
            </a:solidFill>
            <a:prstDash val="solid"/>
          </a:ln>
        </p:spPr>
      </p:sp>
      <p:sp>
        <p:nvSpPr>
          <p:cNvPr id="5" name="Shape 3"/>
          <p:cNvSpPr/>
          <p:nvPr/>
        </p:nvSpPr>
        <p:spPr>
          <a:xfrm>
            <a:off x="749808" y="2057400"/>
            <a:ext cx="566928" cy="566928"/>
          </a:xfrm>
          <a:prstGeom prst="ellipse">
            <a:avLst/>
          </a:prstGeom>
          <a:solidFill>
            <a:srgbClr val="FF7A1A"/>
          </a:solidFill>
          <a:ln w="12700">
            <a:solidFill>
              <a:srgbClr val="FF7A1A"/>
            </a:solidFill>
            <a:prstDash val="solid"/>
          </a:ln>
        </p:spPr>
      </p:sp>
      <p:pic>
        <p:nvPicPr>
          <p:cNvPr id="6" name="Image 0" descr="preencoded.png">    </p:cNvPr>
          <p:cNvPicPr>
            <a:picLocks noChangeAspect="1"/>
          </p:cNvPicPr>
          <p:nvPr/>
        </p:nvPicPr>
        <p:blipFill>
          <a:blip r:embed="rId1"/>
          <a:stretch>
            <a:fillRect/>
          </a:stretch>
        </p:blipFill>
        <p:spPr>
          <a:xfrm>
            <a:off x="897209" y="2204801"/>
            <a:ext cx="272125" cy="272125"/>
          </a:xfrm>
          <a:prstGeom prst="rect">
            <a:avLst/>
          </a:prstGeom>
        </p:spPr>
      </p:pic>
      <p:sp>
        <p:nvSpPr>
          <p:cNvPr id="7" name="Text 4"/>
          <p:cNvSpPr txBox="1"/>
          <p:nvPr/>
        </p:nvSpPr>
        <p:spPr>
          <a:xfrm>
            <a:off x="1508760" y="1965960"/>
            <a:ext cx="4754880" cy="365760"/>
          </a:xfrm>
          <a:prstGeom prst="rect">
            <a:avLst/>
          </a:prstGeom>
          <a:noFill/>
          <a:ln/>
        </p:spPr>
        <p:txBody>
          <a:bodyPr wrap="square" lIns="0" tIns="0" rIns="0" bIns="0" rtlCol="0" anchor="ctr"/>
          <a:lstStyle/>
          <a:p>
            <a:pPr indent="0" marL="0">
              <a:buNone/>
            </a:pPr>
            <a:r>
              <a:rPr lang="en-US" sz="1800" b="1" dirty="0">
                <a:solidFill>
                  <a:srgbClr val="E8EDF2"/>
                </a:solidFill>
                <a:latin typeface="Calibri" pitchFamily="34" charset="0"/>
                <a:ea typeface="Calibri" pitchFamily="34" charset="-122"/>
                <a:cs typeface="Calibri" pitchFamily="34" charset="-120"/>
              </a:rPr>
              <a:t>Data pipeline</a:t>
            </a:r>
            <a:endParaRPr lang="en-US" sz="1800" dirty="0"/>
          </a:p>
        </p:txBody>
      </p:sp>
      <p:sp>
        <p:nvSpPr>
          <p:cNvPr id="8" name="Text 5"/>
          <p:cNvSpPr txBox="1"/>
          <p:nvPr/>
        </p:nvSpPr>
        <p:spPr>
          <a:xfrm>
            <a:off x="1508760" y="2331720"/>
            <a:ext cx="4754880" cy="411480"/>
          </a:xfrm>
          <a:prstGeom prst="rect">
            <a:avLst/>
          </a:prstGeom>
          <a:noFill/>
          <a:ln/>
        </p:spPr>
        <p:txBody>
          <a:bodyPr wrap="square" lIns="0" tIns="0" rIns="0" bIns="0" rtlCol="0" anchor="ctr"/>
          <a:lstStyle/>
          <a:p>
            <a:pPr indent="0" marL="0">
              <a:buNone/>
            </a:pPr>
            <a:r>
              <a:rPr lang="en-US" sz="1300" dirty="0">
                <a:solidFill>
                  <a:srgbClr val="9AA6B4"/>
                </a:solidFill>
                <a:latin typeface="Calibri" pitchFamily="34" charset="0"/>
                <a:ea typeface="Calibri" pitchFamily="34" charset="-122"/>
                <a:cs typeface="Calibri" pitchFamily="34" charset="-120"/>
              </a:rPr>
              <a:t>Node · ArcGIS REST &amp; ImageServer sampling · CDC Socrata · OSM · H3 hex grid</a:t>
            </a:r>
            <a:endParaRPr lang="en-US" sz="1300" dirty="0"/>
          </a:p>
        </p:txBody>
      </p:sp>
      <p:sp>
        <p:nvSpPr>
          <p:cNvPr id="9" name="Shape 6"/>
          <p:cNvSpPr/>
          <p:nvPr/>
        </p:nvSpPr>
        <p:spPr>
          <a:xfrm>
            <a:off x="548640" y="2953512"/>
            <a:ext cx="5852160" cy="932688"/>
          </a:xfrm>
          <a:prstGeom prst="roundRect">
            <a:avLst>
              <a:gd name="adj" fmla="val 11765"/>
            </a:avLst>
          </a:prstGeom>
          <a:solidFill>
            <a:srgbClr val="151C25"/>
          </a:solidFill>
          <a:ln w="9525">
            <a:solidFill>
              <a:srgbClr val="2A3441"/>
            </a:solidFill>
            <a:prstDash val="solid"/>
          </a:ln>
        </p:spPr>
      </p:sp>
      <p:sp>
        <p:nvSpPr>
          <p:cNvPr id="10" name="Shape 7"/>
          <p:cNvSpPr/>
          <p:nvPr/>
        </p:nvSpPr>
        <p:spPr>
          <a:xfrm>
            <a:off x="749808" y="3136392"/>
            <a:ext cx="566928" cy="566928"/>
          </a:xfrm>
          <a:prstGeom prst="ellipse">
            <a:avLst/>
          </a:prstGeom>
          <a:solidFill>
            <a:srgbClr val="FF7A1A"/>
          </a:solidFill>
          <a:ln w="12700">
            <a:solidFill>
              <a:srgbClr val="FF7A1A"/>
            </a:solidFill>
            <a:prstDash val="solid"/>
          </a:ln>
        </p:spPr>
      </p:sp>
      <p:pic>
        <p:nvPicPr>
          <p:cNvPr id="11" name="Image 1" descr="preencoded.png">    </p:cNvPr>
          <p:cNvPicPr>
            <a:picLocks noChangeAspect="1"/>
          </p:cNvPicPr>
          <p:nvPr/>
        </p:nvPicPr>
        <p:blipFill>
          <a:blip r:embed="rId2"/>
          <a:stretch>
            <a:fillRect/>
          </a:stretch>
        </p:blipFill>
        <p:spPr>
          <a:xfrm>
            <a:off x="897209" y="3283793"/>
            <a:ext cx="272125" cy="272125"/>
          </a:xfrm>
          <a:prstGeom prst="rect">
            <a:avLst/>
          </a:prstGeom>
        </p:spPr>
      </p:pic>
      <p:sp>
        <p:nvSpPr>
          <p:cNvPr id="12" name="Text 8"/>
          <p:cNvSpPr txBox="1"/>
          <p:nvPr/>
        </p:nvSpPr>
        <p:spPr>
          <a:xfrm>
            <a:off x="1508760" y="3044952"/>
            <a:ext cx="4754880" cy="365760"/>
          </a:xfrm>
          <a:prstGeom prst="rect">
            <a:avLst/>
          </a:prstGeom>
          <a:noFill/>
          <a:ln/>
        </p:spPr>
        <p:txBody>
          <a:bodyPr wrap="square" lIns="0" tIns="0" rIns="0" bIns="0" rtlCol="0" anchor="ctr"/>
          <a:lstStyle/>
          <a:p>
            <a:pPr indent="0" marL="0">
              <a:buNone/>
            </a:pPr>
            <a:r>
              <a:rPr lang="en-US" sz="1800" b="1" dirty="0">
                <a:solidFill>
                  <a:srgbClr val="E8EDF2"/>
                </a:solidFill>
                <a:latin typeface="Calibri" pitchFamily="34" charset="0"/>
                <a:ea typeface="Calibri" pitchFamily="34" charset="-122"/>
                <a:cs typeface="Calibri" pitchFamily="34" charset="-120"/>
              </a:rPr>
              <a:t>Scoring engine</a:t>
            </a:r>
            <a:endParaRPr lang="en-US" sz="1800" dirty="0"/>
          </a:p>
        </p:txBody>
      </p:sp>
      <p:sp>
        <p:nvSpPr>
          <p:cNvPr id="13" name="Text 9"/>
          <p:cNvSpPr txBox="1"/>
          <p:nvPr/>
        </p:nvSpPr>
        <p:spPr>
          <a:xfrm>
            <a:off x="1508760" y="3410712"/>
            <a:ext cx="4754880" cy="411480"/>
          </a:xfrm>
          <a:prstGeom prst="rect">
            <a:avLst/>
          </a:prstGeom>
          <a:noFill/>
          <a:ln/>
        </p:spPr>
        <p:txBody>
          <a:bodyPr wrap="square" lIns="0" tIns="0" rIns="0" bIns="0" rtlCol="0" anchor="ctr"/>
          <a:lstStyle/>
          <a:p>
            <a:pPr indent="0" marL="0">
              <a:buNone/>
            </a:pPr>
            <a:r>
              <a:rPr lang="en-US" sz="1300" dirty="0">
                <a:solidFill>
                  <a:srgbClr val="9AA6B4"/>
                </a:solidFill>
                <a:latin typeface="Calibri" pitchFamily="34" charset="0"/>
                <a:ea typeface="Calibri" pitchFamily="34" charset="-122"/>
                <a:cs typeface="Calibri" pitchFamily="34" charset="-120"/>
              </a:rPr>
              <a:t>TypeScript model + greedy optimizer, 100% client-side (~3 ms / ~100 ms)</a:t>
            </a:r>
            <a:endParaRPr lang="en-US" sz="1300" dirty="0"/>
          </a:p>
        </p:txBody>
      </p:sp>
      <p:sp>
        <p:nvSpPr>
          <p:cNvPr id="14" name="Shape 10"/>
          <p:cNvSpPr/>
          <p:nvPr/>
        </p:nvSpPr>
        <p:spPr>
          <a:xfrm>
            <a:off x="548640" y="4032504"/>
            <a:ext cx="5852160" cy="932688"/>
          </a:xfrm>
          <a:prstGeom prst="roundRect">
            <a:avLst>
              <a:gd name="adj" fmla="val 11765"/>
            </a:avLst>
          </a:prstGeom>
          <a:solidFill>
            <a:srgbClr val="151C25"/>
          </a:solidFill>
          <a:ln w="9525">
            <a:solidFill>
              <a:srgbClr val="2A3441"/>
            </a:solidFill>
            <a:prstDash val="solid"/>
          </a:ln>
        </p:spPr>
      </p:sp>
      <p:sp>
        <p:nvSpPr>
          <p:cNvPr id="15" name="Shape 11"/>
          <p:cNvSpPr/>
          <p:nvPr/>
        </p:nvSpPr>
        <p:spPr>
          <a:xfrm>
            <a:off x="749808" y="4215384"/>
            <a:ext cx="566928" cy="566928"/>
          </a:xfrm>
          <a:prstGeom prst="ellipse">
            <a:avLst/>
          </a:prstGeom>
          <a:solidFill>
            <a:srgbClr val="FF7A1A"/>
          </a:solidFill>
          <a:ln w="12700">
            <a:solidFill>
              <a:srgbClr val="FF7A1A"/>
            </a:solidFill>
            <a:prstDash val="solid"/>
          </a:ln>
        </p:spPr>
      </p:sp>
      <p:pic>
        <p:nvPicPr>
          <p:cNvPr id="16" name="Image 2" descr="preencoded.png">    </p:cNvPr>
          <p:cNvPicPr>
            <a:picLocks noChangeAspect="1"/>
          </p:cNvPicPr>
          <p:nvPr/>
        </p:nvPicPr>
        <p:blipFill>
          <a:blip r:embed="rId3"/>
          <a:stretch>
            <a:fillRect/>
          </a:stretch>
        </p:blipFill>
        <p:spPr>
          <a:xfrm>
            <a:off x="897209" y="4362785"/>
            <a:ext cx="272125" cy="272125"/>
          </a:xfrm>
          <a:prstGeom prst="rect">
            <a:avLst/>
          </a:prstGeom>
        </p:spPr>
      </p:pic>
      <p:sp>
        <p:nvSpPr>
          <p:cNvPr id="17" name="Text 12"/>
          <p:cNvSpPr txBox="1"/>
          <p:nvPr/>
        </p:nvSpPr>
        <p:spPr>
          <a:xfrm>
            <a:off x="1508760" y="4123944"/>
            <a:ext cx="4754880" cy="365760"/>
          </a:xfrm>
          <a:prstGeom prst="rect">
            <a:avLst/>
          </a:prstGeom>
          <a:noFill/>
          <a:ln/>
        </p:spPr>
        <p:txBody>
          <a:bodyPr wrap="square" lIns="0" tIns="0" rIns="0" bIns="0" rtlCol="0" anchor="ctr"/>
          <a:lstStyle/>
          <a:p>
            <a:pPr indent="0" marL="0">
              <a:buNone/>
            </a:pPr>
            <a:r>
              <a:rPr lang="en-US" sz="1800" b="1" dirty="0">
                <a:solidFill>
                  <a:srgbClr val="E8EDF2"/>
                </a:solidFill>
                <a:latin typeface="Calibri" pitchFamily="34" charset="0"/>
                <a:ea typeface="Calibri" pitchFamily="34" charset="-122"/>
                <a:cs typeface="Calibri" pitchFamily="34" charset="-120"/>
              </a:rPr>
              <a:t>Planner UI</a:t>
            </a:r>
            <a:endParaRPr lang="en-US" sz="1800" dirty="0"/>
          </a:p>
        </p:txBody>
      </p:sp>
      <p:sp>
        <p:nvSpPr>
          <p:cNvPr id="18" name="Text 13"/>
          <p:cNvSpPr txBox="1"/>
          <p:nvPr/>
        </p:nvSpPr>
        <p:spPr>
          <a:xfrm>
            <a:off x="1508760" y="4489704"/>
            <a:ext cx="4754880" cy="411480"/>
          </a:xfrm>
          <a:prstGeom prst="rect">
            <a:avLst/>
          </a:prstGeom>
          <a:noFill/>
          <a:ln/>
        </p:spPr>
        <p:txBody>
          <a:bodyPr wrap="square" lIns="0" tIns="0" rIns="0" bIns="0" rtlCol="0" anchor="ctr"/>
          <a:lstStyle/>
          <a:p>
            <a:pPr indent="0" marL="0">
              <a:buNone/>
            </a:pPr>
            <a:r>
              <a:rPr lang="en-US" sz="1300" dirty="0">
                <a:solidFill>
                  <a:srgbClr val="9AA6B4"/>
                </a:solidFill>
                <a:latin typeface="Calibri" pitchFamily="34" charset="0"/>
                <a:ea typeface="Calibri" pitchFamily="34" charset="-122"/>
                <a:cs typeface="Calibri" pitchFamily="34" charset="-120"/>
              </a:rPr>
              <a:t>Next.js 16 · MapLibre GL (2D/3D) · Recharts · Tailwind</a:t>
            </a:r>
            <a:endParaRPr lang="en-US" sz="1300" dirty="0"/>
          </a:p>
        </p:txBody>
      </p:sp>
      <p:sp>
        <p:nvSpPr>
          <p:cNvPr id="19" name="Shape 14"/>
          <p:cNvSpPr/>
          <p:nvPr/>
        </p:nvSpPr>
        <p:spPr>
          <a:xfrm>
            <a:off x="548640" y="5111496"/>
            <a:ext cx="5852160" cy="932688"/>
          </a:xfrm>
          <a:prstGeom prst="roundRect">
            <a:avLst>
              <a:gd name="adj" fmla="val 11765"/>
            </a:avLst>
          </a:prstGeom>
          <a:solidFill>
            <a:srgbClr val="151C25"/>
          </a:solidFill>
          <a:ln w="9525">
            <a:solidFill>
              <a:srgbClr val="2A3441"/>
            </a:solidFill>
            <a:prstDash val="solid"/>
          </a:ln>
        </p:spPr>
      </p:sp>
      <p:sp>
        <p:nvSpPr>
          <p:cNvPr id="20" name="Shape 15"/>
          <p:cNvSpPr/>
          <p:nvPr/>
        </p:nvSpPr>
        <p:spPr>
          <a:xfrm>
            <a:off x="749808" y="5294376"/>
            <a:ext cx="566928" cy="566928"/>
          </a:xfrm>
          <a:prstGeom prst="ellipse">
            <a:avLst/>
          </a:prstGeom>
          <a:solidFill>
            <a:srgbClr val="FF7A1A"/>
          </a:solidFill>
          <a:ln w="12700">
            <a:solidFill>
              <a:srgbClr val="FF7A1A"/>
            </a:solidFill>
            <a:prstDash val="solid"/>
          </a:ln>
        </p:spPr>
      </p:sp>
      <p:pic>
        <p:nvPicPr>
          <p:cNvPr id="21" name="Image 3" descr="preencoded.png">    </p:cNvPr>
          <p:cNvPicPr>
            <a:picLocks noChangeAspect="1"/>
          </p:cNvPicPr>
          <p:nvPr/>
        </p:nvPicPr>
        <p:blipFill>
          <a:blip r:embed="rId4"/>
          <a:stretch>
            <a:fillRect/>
          </a:stretch>
        </p:blipFill>
        <p:spPr>
          <a:xfrm>
            <a:off x="897209" y="5441777"/>
            <a:ext cx="272125" cy="272125"/>
          </a:xfrm>
          <a:prstGeom prst="rect">
            <a:avLst/>
          </a:prstGeom>
        </p:spPr>
      </p:pic>
      <p:sp>
        <p:nvSpPr>
          <p:cNvPr id="22" name="Text 16"/>
          <p:cNvSpPr txBox="1"/>
          <p:nvPr/>
        </p:nvSpPr>
        <p:spPr>
          <a:xfrm>
            <a:off x="1508760" y="5202936"/>
            <a:ext cx="4754880" cy="365760"/>
          </a:xfrm>
          <a:prstGeom prst="rect">
            <a:avLst/>
          </a:prstGeom>
          <a:noFill/>
          <a:ln/>
        </p:spPr>
        <p:txBody>
          <a:bodyPr wrap="square" lIns="0" tIns="0" rIns="0" bIns="0" rtlCol="0" anchor="ctr"/>
          <a:lstStyle/>
          <a:p>
            <a:pPr indent="0" marL="0">
              <a:buNone/>
            </a:pPr>
            <a:r>
              <a:rPr lang="en-US" sz="1800" b="1" dirty="0">
                <a:solidFill>
                  <a:srgbClr val="E8EDF2"/>
                </a:solidFill>
                <a:latin typeface="Calibri" pitchFamily="34" charset="0"/>
                <a:ea typeface="Calibri" pitchFamily="34" charset="-122"/>
                <a:cs typeface="Calibri" pitchFamily="34" charset="-120"/>
              </a:rPr>
              <a:t>AI explanations</a:t>
            </a:r>
            <a:endParaRPr lang="en-US" sz="1800" dirty="0"/>
          </a:p>
        </p:txBody>
      </p:sp>
      <p:sp>
        <p:nvSpPr>
          <p:cNvPr id="23" name="Text 17"/>
          <p:cNvSpPr txBox="1"/>
          <p:nvPr/>
        </p:nvSpPr>
        <p:spPr>
          <a:xfrm>
            <a:off x="1508760" y="5568696"/>
            <a:ext cx="4754880" cy="411480"/>
          </a:xfrm>
          <a:prstGeom prst="rect">
            <a:avLst/>
          </a:prstGeom>
          <a:noFill/>
          <a:ln/>
        </p:spPr>
        <p:txBody>
          <a:bodyPr wrap="square" lIns="0" tIns="0" rIns="0" bIns="0" rtlCol="0" anchor="ctr"/>
          <a:lstStyle/>
          <a:p>
            <a:pPr indent="0" marL="0">
              <a:buNone/>
            </a:pPr>
            <a:r>
              <a:rPr lang="en-US" sz="1300" dirty="0">
                <a:solidFill>
                  <a:srgbClr val="9AA6B4"/>
                </a:solidFill>
                <a:latin typeface="Calibri" pitchFamily="34" charset="0"/>
                <a:ea typeface="Calibri" pitchFamily="34" charset="-122"/>
                <a:cs typeface="Calibri" pitchFamily="34" charset="-120"/>
              </a:rPr>
              <a:t>Gemini (flash-latest with fallbacks) + deterministic template fallback</a:t>
            </a:r>
            <a:endParaRPr lang="en-US" sz="1300" dirty="0"/>
          </a:p>
        </p:txBody>
      </p:sp>
      <p:sp>
        <p:nvSpPr>
          <p:cNvPr id="24" name="Shape 18"/>
          <p:cNvSpPr/>
          <p:nvPr/>
        </p:nvSpPr>
        <p:spPr>
          <a:xfrm>
            <a:off x="6665976" y="1819656"/>
            <a:ext cx="5047488" cy="3195828"/>
          </a:xfrm>
          <a:prstGeom prst="roundRect">
            <a:avLst>
              <a:gd name="adj" fmla="val 2861"/>
            </a:avLst>
          </a:prstGeom>
          <a:solidFill>
            <a:srgbClr val="151C25"/>
          </a:solidFill>
          <a:ln w="9525">
            <a:solidFill>
              <a:srgbClr val="2A3441"/>
            </a:solidFill>
            <a:prstDash val="solid"/>
          </a:ln>
        </p:spPr>
      </p:sp>
      <p:pic>
        <p:nvPicPr>
          <p:cNvPr id="25" name="Image 4" descr="C:\Users\Stint\Desktop\Projects\heatshield26\docs\screenshots\06-crowd-routes.png">    </p:cNvPr>
          <p:cNvPicPr>
            <a:picLocks noChangeAspect="1"/>
          </p:cNvPicPr>
          <p:nvPr/>
        </p:nvPicPr>
        <p:blipFill>
          <a:blip r:embed="rId5"/>
          <a:stretch>
            <a:fillRect/>
          </a:stretch>
        </p:blipFill>
        <p:spPr>
          <a:xfrm>
            <a:off x="6720840" y="1874520"/>
            <a:ext cx="4937760" cy="3086100"/>
          </a:xfrm>
          <a:prstGeom prst="rect">
            <a:avLst/>
          </a:prstGeom>
        </p:spPr>
      </p:pic>
      <p:sp>
        <p:nvSpPr>
          <p:cNvPr id="26" name="Text 19"/>
          <p:cNvSpPr txBox="1"/>
          <p:nvPr/>
        </p:nvSpPr>
        <p:spPr>
          <a:xfrm>
            <a:off x="6720840" y="5074920"/>
            <a:ext cx="4937760" cy="274320"/>
          </a:xfrm>
          <a:prstGeom prst="rect">
            <a:avLst/>
          </a:prstGeom>
          <a:noFill/>
          <a:ln/>
        </p:spPr>
        <p:txBody>
          <a:bodyPr wrap="square" lIns="0" tIns="0" rIns="0" bIns="0" rtlCol="0" anchor="ctr"/>
          <a:lstStyle/>
          <a:p>
            <a:pPr indent="0" marL="0">
              <a:buNone/>
            </a:pPr>
            <a:r>
              <a:rPr lang="en-US" sz="1100" dirty="0">
                <a:solidFill>
                  <a:srgbClr val="6B7788"/>
                </a:solidFill>
                <a:latin typeface="Calibri" pitchFamily="34" charset="0"/>
                <a:ea typeface="Calibri" pitchFamily="34" charset="-122"/>
                <a:cs typeface="Calibri" pitchFamily="34" charset="-120"/>
              </a:rPr>
              <a:t>Crowd layer with modeled arrival routes</a:t>
            </a:r>
            <a:endParaRPr lang="en-US" sz="1100" dirty="0"/>
          </a:p>
        </p:txBody>
      </p:sp>
      <p:sp>
        <p:nvSpPr>
          <p:cNvPr id="27" name="Shape 20"/>
          <p:cNvSpPr/>
          <p:nvPr/>
        </p:nvSpPr>
        <p:spPr>
          <a:xfrm>
            <a:off x="6720840" y="5577840"/>
            <a:ext cx="457200" cy="457200"/>
          </a:xfrm>
          <a:prstGeom prst="ellipse">
            <a:avLst/>
          </a:prstGeom>
          <a:solidFill>
            <a:srgbClr val="333D4A"/>
          </a:solidFill>
          <a:ln w="12700">
            <a:solidFill>
              <a:srgbClr val="333D4A"/>
            </a:solidFill>
            <a:prstDash val="solid"/>
          </a:ln>
        </p:spPr>
      </p:sp>
      <p:pic>
        <p:nvPicPr>
          <p:cNvPr id="28" name="Image 5" descr="preencoded.png">    </p:cNvPr>
          <p:cNvPicPr>
            <a:picLocks noChangeAspect="1"/>
          </p:cNvPicPr>
          <p:nvPr/>
        </p:nvPicPr>
        <p:blipFill>
          <a:blip r:embed="rId6"/>
          <a:stretch>
            <a:fillRect/>
          </a:stretch>
        </p:blipFill>
        <p:spPr>
          <a:xfrm>
            <a:off x="6839712" y="5696712"/>
            <a:ext cx="219456" cy="219456"/>
          </a:xfrm>
          <a:prstGeom prst="rect">
            <a:avLst/>
          </a:prstGeom>
        </p:spPr>
      </p:pic>
      <p:sp>
        <p:nvSpPr>
          <p:cNvPr id="29" name="Text 21"/>
          <p:cNvSpPr txBox="1"/>
          <p:nvPr/>
        </p:nvSpPr>
        <p:spPr>
          <a:xfrm>
            <a:off x="7315200" y="5577840"/>
            <a:ext cx="4389120" cy="457200"/>
          </a:xfrm>
          <a:prstGeom prst="rect">
            <a:avLst/>
          </a:prstGeom>
          <a:noFill/>
          <a:ln/>
        </p:spPr>
        <p:txBody>
          <a:bodyPr wrap="square" lIns="0" tIns="0" rIns="0" bIns="0" rtlCol="0" anchor="ctr"/>
          <a:lstStyle/>
          <a:p>
            <a:pPr indent="0" marL="0">
              <a:buNone/>
            </a:pPr>
            <a:r>
              <a:rPr lang="en-US" sz="1500" b="1" dirty="0">
                <a:solidFill>
                  <a:srgbClr val="E8EDF2"/>
                </a:solidFill>
                <a:latin typeface="Calibri" pitchFamily="34" charset="0"/>
                <a:ea typeface="Calibri" pitchFamily="34" charset="-122"/>
                <a:cs typeface="Calibri" pitchFamily="34" charset="-120"/>
              </a:rPr>
              <a:t>github.com/salman-khan03/heatshield26</a:t>
            </a:r>
            <a:endParaRPr lang="en-US" sz="1500" dirty="0"/>
          </a:p>
        </p:txBody>
      </p:sp>
      <p:sp>
        <p:nvSpPr>
          <p:cNvPr id="31" name="Text 22"/>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1000" dirty="0">
                <a:solidFill>
                  <a:srgbClr val="6B7788"/>
                </a:solidFill>
                <a:latin typeface="Calibri" pitchFamily="34" charset="0"/>
                <a:ea typeface="Calibri" pitchFamily="34" charset="-122"/>
                <a:cs typeface="Calibri" pitchFamily="34" charset="-120"/>
              </a:rPr>
              <a:t>HeatShield 26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D12"/>
        </a:solidFill>
      </p:bgPr>
    </p:bg>
    <p:spTree>
      <p:nvGrpSpPr>
        <p:cNvPr id="1" name=""/>
        <p:cNvGrpSpPr/>
        <p:nvPr/>
      </p:nvGrpSpPr>
      <p:grpSpPr>
        <a:xfrm>
          <a:off x="0" y="0"/>
          <a:ext cx="0" cy="0"/>
          <a:chOff x="0" y="0"/>
          <a:chExt cx="0" cy="0"/>
        </a:xfrm>
      </p:grpSpPr>
      <p:pic>
        <p:nvPicPr>
          <p:cNvPr id="2" name="Image 0" descr="C:\Users\Stint\Desktop\Projects\heatshield26\docs\screenshots\05-optimized-plan.png">    </p:cNvPr>
          <p:cNvPicPr>
            <a:picLocks noChangeAspect="1"/>
          </p:cNvPicPr>
          <p:nvPr/>
        </p:nvPicPr>
        <p:blipFill>
          <a:blip r:embed="rId1">
            <a:alphaModFix amt="40000"/>
          </a:blip>
          <a:srcRect l="20279" r="20279" t="0" b="0"/>
          <a:stretch/>
        </p:blipFill>
        <p:spPr>
          <a:xfrm>
            <a:off x="5669280" y="0"/>
            <a:ext cx="6522415" cy="6858000"/>
          </a:xfrm>
          <a:prstGeom prst="rect">
            <a:avLst/>
          </a:prstGeom>
        </p:spPr>
      </p:pic>
      <p:sp>
        <p:nvSpPr>
          <p:cNvPr id="3" name="Shape 0"/>
          <p:cNvSpPr/>
          <p:nvPr/>
        </p:nvSpPr>
        <p:spPr>
          <a:xfrm>
            <a:off x="0" y="0"/>
            <a:ext cx="6583680" cy="6858000"/>
          </a:xfrm>
          <a:prstGeom prst="rect">
            <a:avLst/>
          </a:prstGeom>
          <a:solidFill>
            <a:srgbClr val="0A0D12"/>
          </a:solidFill>
          <a:ln w="12700">
            <a:solidFill>
              <a:srgbClr val="0A0D12"/>
            </a:solidFill>
            <a:prstDash val="solid"/>
          </a:ln>
        </p:spPr>
      </p:sp>
      <p:sp>
        <p:nvSpPr>
          <p:cNvPr id="4" name="Shape 1"/>
          <p:cNvSpPr/>
          <p:nvPr/>
        </p:nvSpPr>
        <p:spPr>
          <a:xfrm>
            <a:off x="548640" y="640080"/>
            <a:ext cx="640080" cy="640080"/>
          </a:xfrm>
          <a:prstGeom prst="ellipse">
            <a:avLst/>
          </a:prstGeom>
          <a:solidFill>
            <a:srgbClr val="FF7A1A"/>
          </a:solidFill>
          <a:ln w="12700">
            <a:solidFill>
              <a:srgbClr val="FF7A1A"/>
            </a:solidFill>
            <a:prstDash val="solid"/>
          </a:ln>
        </p:spPr>
      </p:sp>
      <p:pic>
        <p:nvPicPr>
          <p:cNvPr id="5" name="Image 1" descr="preencoded.png">    </p:cNvPr>
          <p:cNvPicPr>
            <a:picLocks noChangeAspect="1"/>
          </p:cNvPicPr>
          <p:nvPr/>
        </p:nvPicPr>
        <p:blipFill>
          <a:blip r:embed="rId2"/>
          <a:stretch>
            <a:fillRect/>
          </a:stretch>
        </p:blipFill>
        <p:spPr>
          <a:xfrm>
            <a:off x="715061" y="806501"/>
            <a:ext cx="307238" cy="307238"/>
          </a:xfrm>
          <a:prstGeom prst="rect">
            <a:avLst/>
          </a:prstGeom>
        </p:spPr>
      </p:pic>
      <p:sp>
        <p:nvSpPr>
          <p:cNvPr id="6" name="Text 2"/>
          <p:cNvSpPr txBox="1"/>
          <p:nvPr/>
        </p:nvSpPr>
        <p:spPr>
          <a:xfrm>
            <a:off x="548640" y="1645920"/>
            <a:ext cx="5852160" cy="1371600"/>
          </a:xfrm>
          <a:prstGeom prst="rect">
            <a:avLst/>
          </a:prstGeom>
          <a:noFill/>
          <a:ln/>
        </p:spPr>
        <p:txBody>
          <a:bodyPr wrap="square" lIns="0" tIns="0" rIns="0" bIns="0" rtlCol="0" anchor="t"/>
          <a:lstStyle/>
          <a:p>
            <a:pPr indent="0" marL="0">
              <a:buNone/>
            </a:pPr>
            <a:r>
              <a:rPr lang="en-US" sz="4000" b="1" dirty="0">
                <a:solidFill>
                  <a:srgbClr val="E8EDF2"/>
                </a:solidFill>
                <a:latin typeface="Calibri" pitchFamily="34" charset="0"/>
                <a:ea typeface="Calibri" pitchFamily="34" charset="-122"/>
                <a:cs typeface="Calibri" pitchFamily="34" charset="-120"/>
              </a:rPr>
              <a:t>Where should Houston invest $1M?</a:t>
            </a:r>
            <a:endParaRPr lang="en-US" sz="4000" dirty="0"/>
          </a:p>
        </p:txBody>
      </p:sp>
      <p:sp>
        <p:nvSpPr>
          <p:cNvPr id="7" name="Text 3"/>
          <p:cNvSpPr txBox="1"/>
          <p:nvPr/>
        </p:nvSpPr>
        <p:spPr>
          <a:xfrm>
            <a:off x="548640" y="3063240"/>
            <a:ext cx="5669280" cy="1097280"/>
          </a:xfrm>
          <a:prstGeom prst="rect">
            <a:avLst/>
          </a:prstGeom>
          <a:noFill/>
          <a:ln/>
        </p:spPr>
        <p:txBody>
          <a:bodyPr wrap="square" lIns="0" tIns="0" rIns="0" bIns="0" rtlCol="0" anchor="t"/>
          <a:lstStyle/>
          <a:p>
            <a:pPr indent="0" marL="0">
              <a:buNone/>
            </a:pPr>
            <a:r>
              <a:rPr lang="en-US" sz="2200" dirty="0">
                <a:solidFill>
                  <a:srgbClr val="FF7A1A"/>
                </a:solidFill>
                <a:latin typeface="Calibri" pitchFamily="34" charset="0"/>
                <a:ea typeface="Calibri" pitchFamily="34" charset="-122"/>
                <a:cs typeface="Calibri" pitchFamily="34" charset="-120"/>
              </a:rPr>
              <a:t>Now there’s an answer — with a map, a plan, and the evidence behind it.</a:t>
            </a:r>
            <a:endParaRPr lang="en-US" sz="2200" dirty="0"/>
          </a:p>
        </p:txBody>
      </p:sp>
      <p:sp>
        <p:nvSpPr>
          <p:cNvPr id="8" name="Text 4"/>
          <p:cNvSpPr txBox="1"/>
          <p:nvPr/>
        </p:nvSpPr>
        <p:spPr>
          <a:xfrm>
            <a:off x="548640" y="4297680"/>
            <a:ext cx="5669280" cy="1005840"/>
          </a:xfrm>
          <a:prstGeom prst="rect">
            <a:avLst/>
          </a:prstGeom>
          <a:noFill/>
          <a:ln/>
        </p:spPr>
        <p:txBody>
          <a:bodyPr wrap="square" lIns="0" tIns="0" rIns="0" bIns="0" rtlCol="0" anchor="t"/>
          <a:lstStyle/>
          <a:p>
            <a:pPr indent="0" marL="0">
              <a:buNone/>
            </a:pPr>
            <a:r>
              <a:rPr lang="en-US" sz="1700" dirty="0">
                <a:solidFill>
                  <a:srgbClr val="9AA6B4"/>
                </a:solidFill>
                <a:latin typeface="Calibri" pitchFamily="34" charset="0"/>
                <a:ea typeface="Calibri" pitchFamily="34" charset="-122"/>
                <a:cs typeface="Calibri" pitchFamily="34" charset="-120"/>
              </a:rPr>
              <a:t>HeatShield 26 becomes Houston’s planning layer for every stadium event, festival, marathon and heat emergency.</a:t>
            </a:r>
            <a:endParaRPr lang="en-US" sz="1700" dirty="0"/>
          </a:p>
        </p:txBody>
      </p:sp>
      <p:sp>
        <p:nvSpPr>
          <p:cNvPr id="9" name="Text 5"/>
          <p:cNvSpPr txBox="1"/>
          <p:nvPr/>
        </p:nvSpPr>
        <p:spPr>
          <a:xfrm>
            <a:off x="548640" y="5897880"/>
            <a:ext cx="5852160" cy="365760"/>
          </a:xfrm>
          <a:prstGeom prst="rect">
            <a:avLst/>
          </a:prstGeom>
          <a:noFill/>
          <a:ln/>
        </p:spPr>
        <p:txBody>
          <a:bodyPr wrap="square" lIns="0" tIns="0" rIns="0" bIns="0" rtlCol="0" anchor="ctr"/>
          <a:lstStyle/>
          <a:p>
            <a:pPr indent="0" marL="0">
              <a:buNone/>
            </a:pPr>
            <a:r>
              <a:rPr lang="en-US" sz="1400" b="1" dirty="0">
                <a:solidFill>
                  <a:srgbClr val="E8EDF2"/>
                </a:solidFill>
                <a:latin typeface="Calibri" pitchFamily="34" charset="0"/>
                <a:ea typeface="Calibri" pitchFamily="34" charset="-122"/>
                <a:cs typeface="Calibri" pitchFamily="34" charset="-120"/>
              </a:rPr>
              <a:t>Thank you  ·  github.com/salman-khan03/heatshield26</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D12"/>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200" b="1" spc="300" kern="0" dirty="0">
                <a:solidFill>
                  <a:srgbClr val="6B7788"/>
                </a:solidFill>
                <a:latin typeface="Calibri" pitchFamily="34" charset="0"/>
                <a:ea typeface="Calibri" pitchFamily="34" charset="-122"/>
                <a:cs typeface="Calibri" pitchFamily="34" charset="-120"/>
              </a:rPr>
              <a:t>BACKUP · Q&amp;A</a:t>
            </a:r>
            <a:endParaRPr lang="en-US" sz="1200" dirty="0"/>
          </a:p>
        </p:txBody>
      </p:sp>
      <p:sp>
        <p:nvSpPr>
          <p:cNvPr id="3" name="Text 1"/>
          <p:cNvSpPr txBox="1"/>
          <p:nvPr/>
        </p:nvSpPr>
        <p:spPr>
          <a:xfrm>
            <a:off x="548640" y="749808"/>
            <a:ext cx="11094415" cy="914400"/>
          </a:xfrm>
          <a:prstGeom prst="rect">
            <a:avLst/>
          </a:prstGeom>
          <a:noFill/>
          <a:ln/>
        </p:spPr>
        <p:txBody>
          <a:bodyPr wrap="square" lIns="0" tIns="0" rIns="0" bIns="0" rtlCol="0" anchor="t"/>
          <a:lstStyle/>
          <a:p>
            <a:pPr indent="0" marL="0">
              <a:buNone/>
            </a:pPr>
            <a:r>
              <a:rPr lang="en-US" sz="3400" b="1" dirty="0">
                <a:solidFill>
                  <a:srgbClr val="E8EDF2"/>
                </a:solidFill>
                <a:latin typeface="Calibri" pitchFamily="34" charset="0"/>
                <a:ea typeface="Calibri" pitchFamily="34" charset="-122"/>
                <a:cs typeface="Calibri" pitchFamily="34" charset="-120"/>
              </a:rPr>
              <a:t>What we don’t claim</a:t>
            </a:r>
            <a:endParaRPr lang="en-US" sz="3400" dirty="0"/>
          </a:p>
        </p:txBody>
      </p:sp>
      <p:sp>
        <p:nvSpPr>
          <p:cNvPr id="4" name="Shape 2"/>
          <p:cNvSpPr/>
          <p:nvPr/>
        </p:nvSpPr>
        <p:spPr>
          <a:xfrm>
            <a:off x="548640" y="1965960"/>
            <a:ext cx="457200" cy="457200"/>
          </a:xfrm>
          <a:prstGeom prst="ellipse">
            <a:avLst/>
          </a:prstGeom>
          <a:solidFill>
            <a:srgbClr val="3A4656"/>
          </a:solidFill>
          <a:ln w="12700">
            <a:solidFill>
              <a:srgbClr val="3A4656"/>
            </a:solidFill>
            <a:prstDash val="solid"/>
          </a:ln>
        </p:spPr>
      </p:sp>
      <p:pic>
        <p:nvPicPr>
          <p:cNvPr id="5" name="Image 0" descr="preencoded.png">    </p:cNvPr>
          <p:cNvPicPr>
            <a:picLocks noChangeAspect="1"/>
          </p:cNvPicPr>
          <p:nvPr/>
        </p:nvPicPr>
        <p:blipFill>
          <a:blip r:embed="rId1"/>
          <a:stretch>
            <a:fillRect/>
          </a:stretch>
        </p:blipFill>
        <p:spPr>
          <a:xfrm>
            <a:off x="667512" y="2084832"/>
            <a:ext cx="219456" cy="219456"/>
          </a:xfrm>
          <a:prstGeom prst="rect">
            <a:avLst/>
          </a:prstGeom>
        </p:spPr>
      </p:pic>
      <p:sp>
        <p:nvSpPr>
          <p:cNvPr id="6" name="Text 3"/>
          <p:cNvSpPr txBox="1"/>
          <p:nvPr/>
        </p:nvSpPr>
        <p:spPr>
          <a:xfrm>
            <a:off x="1234440" y="1874520"/>
            <a:ext cx="10332720" cy="347472"/>
          </a:xfrm>
          <a:prstGeom prst="rect">
            <a:avLst/>
          </a:prstGeom>
          <a:noFill/>
          <a:ln/>
        </p:spPr>
        <p:txBody>
          <a:bodyPr wrap="square" lIns="0" tIns="0" rIns="0" bIns="0" rtlCol="0" anchor="ctr"/>
          <a:lstStyle/>
          <a:p>
            <a:pPr indent="0" marL="0">
              <a:buNone/>
            </a:pPr>
            <a:r>
              <a:rPr lang="en-US" sz="1700" b="1" dirty="0">
                <a:solidFill>
                  <a:srgbClr val="E8EDF2"/>
                </a:solidFill>
                <a:latin typeface="Calibri" pitchFamily="34" charset="0"/>
                <a:ea typeface="Calibri" pitchFamily="34" charset="-122"/>
                <a:cs typeface="Calibri" pitchFamily="34" charset="-120"/>
              </a:rPr>
              <a:t>Crowd flows are modeled, not counted</a:t>
            </a:r>
            <a:endParaRPr lang="en-US" sz="1700" dirty="0"/>
          </a:p>
        </p:txBody>
      </p:sp>
      <p:sp>
        <p:nvSpPr>
          <p:cNvPr id="7" name="Text 4"/>
          <p:cNvSpPr txBox="1"/>
          <p:nvPr/>
        </p:nvSpPr>
        <p:spPr>
          <a:xfrm>
            <a:off x="1234440" y="2221992"/>
            <a:ext cx="10332720" cy="329184"/>
          </a:xfrm>
          <a:prstGeom prst="rect">
            <a:avLst/>
          </a:prstGeom>
          <a:noFill/>
          <a:ln/>
        </p:spPr>
        <p:txBody>
          <a:bodyPr wrap="square" lIns="0" tIns="0" rIns="0" bIns="0" rtlCol="0" anchor="ctr"/>
          <a:lstStyle/>
          <a:p>
            <a:pPr indent="0" marL="0">
              <a:buNone/>
            </a:pPr>
            <a:r>
              <a:rPr lang="en-US" sz="1400" dirty="0">
                <a:solidFill>
                  <a:srgbClr val="9AA6B4"/>
                </a:solidFill>
                <a:latin typeface="Calibri" pitchFamily="34" charset="0"/>
                <a:ea typeface="Calibri" pitchFamily="34" charset="-122"/>
                <a:cs typeface="Calibri" pitchFamily="34" charset="-120"/>
              </a:rPr>
              <a:t>No public FIFA pedestrian data exists; all routing assumptions are sliders and documented.</a:t>
            </a:r>
            <a:endParaRPr lang="en-US" sz="1400" dirty="0"/>
          </a:p>
        </p:txBody>
      </p:sp>
      <p:sp>
        <p:nvSpPr>
          <p:cNvPr id="8" name="Shape 5"/>
          <p:cNvSpPr/>
          <p:nvPr/>
        </p:nvSpPr>
        <p:spPr>
          <a:xfrm>
            <a:off x="548640" y="2834640"/>
            <a:ext cx="457200" cy="457200"/>
          </a:xfrm>
          <a:prstGeom prst="ellipse">
            <a:avLst/>
          </a:prstGeom>
          <a:solidFill>
            <a:srgbClr val="3A4656"/>
          </a:solidFill>
          <a:ln w="12700">
            <a:solidFill>
              <a:srgbClr val="3A4656"/>
            </a:solidFill>
            <a:prstDash val="solid"/>
          </a:ln>
        </p:spPr>
      </p:sp>
      <p:pic>
        <p:nvPicPr>
          <p:cNvPr id="9" name="Image 1" descr="preencoded.png">    </p:cNvPr>
          <p:cNvPicPr>
            <a:picLocks noChangeAspect="1"/>
          </p:cNvPicPr>
          <p:nvPr/>
        </p:nvPicPr>
        <p:blipFill>
          <a:blip r:embed="rId2"/>
          <a:stretch>
            <a:fillRect/>
          </a:stretch>
        </p:blipFill>
        <p:spPr>
          <a:xfrm>
            <a:off x="667512" y="2953512"/>
            <a:ext cx="219456" cy="219456"/>
          </a:xfrm>
          <a:prstGeom prst="rect">
            <a:avLst/>
          </a:prstGeom>
        </p:spPr>
      </p:pic>
      <p:sp>
        <p:nvSpPr>
          <p:cNvPr id="10" name="Text 6"/>
          <p:cNvSpPr txBox="1"/>
          <p:nvPr/>
        </p:nvSpPr>
        <p:spPr>
          <a:xfrm>
            <a:off x="1234440" y="2743200"/>
            <a:ext cx="10332720" cy="347472"/>
          </a:xfrm>
          <a:prstGeom prst="rect">
            <a:avLst/>
          </a:prstGeom>
          <a:noFill/>
          <a:ln/>
        </p:spPr>
        <p:txBody>
          <a:bodyPr wrap="square" lIns="0" tIns="0" rIns="0" bIns="0" rtlCol="0" anchor="ctr"/>
          <a:lstStyle/>
          <a:p>
            <a:pPr indent="0" marL="0">
              <a:buNone/>
            </a:pPr>
            <a:r>
              <a:rPr lang="en-US" sz="1700" b="1" dirty="0">
                <a:solidFill>
                  <a:srgbClr val="E8EDF2"/>
                </a:solidFill>
                <a:latin typeface="Calibri" pitchFamily="34" charset="0"/>
                <a:ea typeface="Calibri" pitchFamily="34" charset="-122"/>
                <a:cs typeface="Calibri" pitchFamily="34" charset="-120"/>
              </a:rPr>
              <a:t>Intervention costs &amp; effects are placeholders</a:t>
            </a:r>
            <a:endParaRPr lang="en-US" sz="1700" dirty="0"/>
          </a:p>
        </p:txBody>
      </p:sp>
      <p:sp>
        <p:nvSpPr>
          <p:cNvPr id="11" name="Text 7"/>
          <p:cNvSpPr txBox="1"/>
          <p:nvPr/>
        </p:nvSpPr>
        <p:spPr>
          <a:xfrm>
            <a:off x="1234440" y="3090672"/>
            <a:ext cx="10332720" cy="329184"/>
          </a:xfrm>
          <a:prstGeom prst="rect">
            <a:avLst/>
          </a:prstGeom>
          <a:noFill/>
          <a:ln/>
        </p:spPr>
        <p:txBody>
          <a:bodyPr wrap="square" lIns="0" tIns="0" rIns="0" bIns="0" rtlCol="0" anchor="ctr"/>
          <a:lstStyle/>
          <a:p>
            <a:pPr indent="0" marL="0">
              <a:buNone/>
            </a:pPr>
            <a:r>
              <a:rPr lang="en-US" sz="1400" dirty="0">
                <a:solidFill>
                  <a:srgbClr val="9AA6B4"/>
                </a:solidFill>
                <a:latin typeface="Calibri" pitchFamily="34" charset="0"/>
                <a:ea typeface="Calibri" pitchFamily="34" charset="-122"/>
                <a:cs typeface="Calibri" pitchFamily="34" charset="-120"/>
              </a:rPr>
              <a:t>Built for comparison; a city should replace them with procurement and EMS data.</a:t>
            </a:r>
            <a:endParaRPr lang="en-US" sz="1400" dirty="0"/>
          </a:p>
        </p:txBody>
      </p:sp>
      <p:sp>
        <p:nvSpPr>
          <p:cNvPr id="12" name="Shape 8"/>
          <p:cNvSpPr/>
          <p:nvPr/>
        </p:nvSpPr>
        <p:spPr>
          <a:xfrm>
            <a:off x="548640" y="3703320"/>
            <a:ext cx="457200" cy="457200"/>
          </a:xfrm>
          <a:prstGeom prst="ellipse">
            <a:avLst/>
          </a:prstGeom>
          <a:solidFill>
            <a:srgbClr val="3A4656"/>
          </a:solidFill>
          <a:ln w="12700">
            <a:solidFill>
              <a:srgbClr val="3A4656"/>
            </a:solidFill>
            <a:prstDash val="solid"/>
          </a:ln>
        </p:spPr>
      </p:sp>
      <p:pic>
        <p:nvPicPr>
          <p:cNvPr id="13" name="Image 2" descr="preencoded.png">    </p:cNvPr>
          <p:cNvPicPr>
            <a:picLocks noChangeAspect="1"/>
          </p:cNvPicPr>
          <p:nvPr/>
        </p:nvPicPr>
        <p:blipFill>
          <a:blip r:embed="rId3"/>
          <a:stretch>
            <a:fillRect/>
          </a:stretch>
        </p:blipFill>
        <p:spPr>
          <a:xfrm>
            <a:off x="667512" y="3822192"/>
            <a:ext cx="219456" cy="219456"/>
          </a:xfrm>
          <a:prstGeom prst="rect">
            <a:avLst/>
          </a:prstGeom>
        </p:spPr>
      </p:pic>
      <p:sp>
        <p:nvSpPr>
          <p:cNvPr id="14" name="Text 9"/>
          <p:cNvSpPr txBox="1"/>
          <p:nvPr/>
        </p:nvSpPr>
        <p:spPr>
          <a:xfrm>
            <a:off x="1234440" y="3611880"/>
            <a:ext cx="10332720" cy="347472"/>
          </a:xfrm>
          <a:prstGeom prst="rect">
            <a:avLst/>
          </a:prstGeom>
          <a:noFill/>
          <a:ln/>
        </p:spPr>
        <p:txBody>
          <a:bodyPr wrap="square" lIns="0" tIns="0" rIns="0" bIns="0" rtlCol="0" anchor="ctr"/>
          <a:lstStyle/>
          <a:p>
            <a:pPr indent="0" marL="0">
              <a:buNone/>
            </a:pPr>
            <a:r>
              <a:rPr lang="en-US" sz="1700" b="1" dirty="0">
                <a:solidFill>
                  <a:srgbClr val="E8EDF2"/>
                </a:solidFill>
                <a:latin typeface="Calibri" pitchFamily="34" charset="0"/>
                <a:ea typeface="Calibri" pitchFamily="34" charset="-122"/>
                <a:cs typeface="Calibri" pitchFamily="34" charset="-120"/>
              </a:rPr>
              <a:t>Health data describes residents, not fans</a:t>
            </a:r>
            <a:endParaRPr lang="en-US" sz="1700" dirty="0"/>
          </a:p>
        </p:txBody>
      </p:sp>
      <p:sp>
        <p:nvSpPr>
          <p:cNvPr id="15" name="Text 10"/>
          <p:cNvSpPr txBox="1"/>
          <p:nvPr/>
        </p:nvSpPr>
        <p:spPr>
          <a:xfrm>
            <a:off x="1234440" y="3959352"/>
            <a:ext cx="10332720" cy="329184"/>
          </a:xfrm>
          <a:prstGeom prst="rect">
            <a:avLst/>
          </a:prstGeom>
          <a:noFill/>
          <a:ln/>
        </p:spPr>
        <p:txBody>
          <a:bodyPr wrap="square" lIns="0" tIns="0" rIns="0" bIns="0" rtlCol="0" anchor="ctr"/>
          <a:lstStyle/>
          <a:p>
            <a:pPr indent="0" marL="0">
              <a:buNone/>
            </a:pPr>
            <a:r>
              <a:rPr lang="en-US" sz="1400" dirty="0">
                <a:solidFill>
                  <a:srgbClr val="9AA6B4"/>
                </a:solidFill>
                <a:latin typeface="Calibri" pitchFamily="34" charset="0"/>
                <a:ea typeface="Calibri" pitchFamily="34" charset="-122"/>
                <a:cs typeface="Calibri" pitchFamily="34" charset="-120"/>
              </a:rPr>
              <a:t>Visitor vulnerability (age, hydration, travel) isn’t observed.</a:t>
            </a:r>
            <a:endParaRPr lang="en-US" sz="1400" dirty="0"/>
          </a:p>
        </p:txBody>
      </p:sp>
      <p:sp>
        <p:nvSpPr>
          <p:cNvPr id="16" name="Shape 11"/>
          <p:cNvSpPr/>
          <p:nvPr/>
        </p:nvSpPr>
        <p:spPr>
          <a:xfrm>
            <a:off x="548640" y="4572000"/>
            <a:ext cx="457200" cy="457200"/>
          </a:xfrm>
          <a:prstGeom prst="ellipse">
            <a:avLst/>
          </a:prstGeom>
          <a:solidFill>
            <a:srgbClr val="3A4656"/>
          </a:solidFill>
          <a:ln w="12700">
            <a:solidFill>
              <a:srgbClr val="3A4656"/>
            </a:solidFill>
            <a:prstDash val="solid"/>
          </a:ln>
        </p:spPr>
      </p:sp>
      <p:pic>
        <p:nvPicPr>
          <p:cNvPr id="17" name="Image 3" descr="preencoded.png">    </p:cNvPr>
          <p:cNvPicPr>
            <a:picLocks noChangeAspect="1"/>
          </p:cNvPicPr>
          <p:nvPr/>
        </p:nvPicPr>
        <p:blipFill>
          <a:blip r:embed="rId4"/>
          <a:stretch>
            <a:fillRect/>
          </a:stretch>
        </p:blipFill>
        <p:spPr>
          <a:xfrm>
            <a:off x="667512" y="4690872"/>
            <a:ext cx="219456" cy="219456"/>
          </a:xfrm>
          <a:prstGeom prst="rect">
            <a:avLst/>
          </a:prstGeom>
        </p:spPr>
      </p:pic>
      <p:sp>
        <p:nvSpPr>
          <p:cNvPr id="18" name="Text 12"/>
          <p:cNvSpPr txBox="1"/>
          <p:nvPr/>
        </p:nvSpPr>
        <p:spPr>
          <a:xfrm>
            <a:off x="1234440" y="4480560"/>
            <a:ext cx="10332720" cy="347472"/>
          </a:xfrm>
          <a:prstGeom prst="rect">
            <a:avLst/>
          </a:prstGeom>
          <a:noFill/>
          <a:ln/>
        </p:spPr>
        <p:txBody>
          <a:bodyPr wrap="square" lIns="0" tIns="0" rIns="0" bIns="0" rtlCol="0" anchor="ctr"/>
          <a:lstStyle/>
          <a:p>
            <a:pPr indent="0" marL="0">
              <a:buNone/>
            </a:pPr>
            <a:r>
              <a:rPr lang="en-US" sz="1700" b="1" dirty="0">
                <a:solidFill>
                  <a:srgbClr val="E8EDF2"/>
                </a:solidFill>
                <a:latin typeface="Calibri" pitchFamily="34" charset="0"/>
                <a:ea typeface="Calibri" pitchFamily="34" charset="-122"/>
                <a:cs typeface="Calibri" pitchFamily="34" charset="-120"/>
              </a:rPr>
              <a:t>Heat surfaces are single campaign days</a:t>
            </a:r>
            <a:endParaRPr lang="en-US" sz="1700" dirty="0"/>
          </a:p>
        </p:txBody>
      </p:sp>
      <p:sp>
        <p:nvSpPr>
          <p:cNvPr id="19" name="Text 13"/>
          <p:cNvSpPr txBox="1"/>
          <p:nvPr/>
        </p:nvSpPr>
        <p:spPr>
          <a:xfrm>
            <a:off x="1234440" y="4828032"/>
            <a:ext cx="10332720" cy="329184"/>
          </a:xfrm>
          <a:prstGeom prst="rect">
            <a:avLst/>
          </a:prstGeom>
          <a:noFill/>
          <a:ln/>
        </p:spPr>
        <p:txBody>
          <a:bodyPr wrap="square" lIns="0" tIns="0" rIns="0" bIns="0" rtlCol="0" anchor="ctr"/>
          <a:lstStyle/>
          <a:p>
            <a:pPr indent="0" marL="0">
              <a:buNone/>
            </a:pPr>
            <a:r>
              <a:rPr lang="en-US" sz="1400" dirty="0">
                <a:solidFill>
                  <a:srgbClr val="9AA6B4"/>
                </a:solidFill>
                <a:latin typeface="Calibri" pitchFamily="34" charset="0"/>
                <a:ea typeface="Calibri" pitchFamily="34" charset="-122"/>
                <a:cs typeface="Calibri" pitchFamily="34" charset="-120"/>
              </a:rPr>
              <a:t>Anomalies are applied to a forecast you choose, not a weather model.</a:t>
            </a:r>
            <a:endParaRPr lang="en-US" sz="1400" dirty="0"/>
          </a:p>
        </p:txBody>
      </p:sp>
      <p:sp>
        <p:nvSpPr>
          <p:cNvPr id="20" name="Shape 14"/>
          <p:cNvSpPr/>
          <p:nvPr/>
        </p:nvSpPr>
        <p:spPr>
          <a:xfrm>
            <a:off x="548640" y="5440680"/>
            <a:ext cx="457200" cy="457200"/>
          </a:xfrm>
          <a:prstGeom prst="ellipse">
            <a:avLst/>
          </a:prstGeom>
          <a:solidFill>
            <a:srgbClr val="3A4656"/>
          </a:solidFill>
          <a:ln w="12700">
            <a:solidFill>
              <a:srgbClr val="3A4656"/>
            </a:solidFill>
            <a:prstDash val="solid"/>
          </a:ln>
        </p:spPr>
      </p:sp>
      <p:pic>
        <p:nvPicPr>
          <p:cNvPr id="21" name="Image 4" descr="preencoded.png">    </p:cNvPr>
          <p:cNvPicPr>
            <a:picLocks noChangeAspect="1"/>
          </p:cNvPicPr>
          <p:nvPr/>
        </p:nvPicPr>
        <p:blipFill>
          <a:blip r:embed="rId5"/>
          <a:stretch>
            <a:fillRect/>
          </a:stretch>
        </p:blipFill>
        <p:spPr>
          <a:xfrm>
            <a:off x="667512" y="5559552"/>
            <a:ext cx="219456" cy="219456"/>
          </a:xfrm>
          <a:prstGeom prst="rect">
            <a:avLst/>
          </a:prstGeom>
        </p:spPr>
      </p:pic>
      <p:sp>
        <p:nvSpPr>
          <p:cNvPr id="22" name="Text 15"/>
          <p:cNvSpPr txBox="1"/>
          <p:nvPr/>
        </p:nvSpPr>
        <p:spPr>
          <a:xfrm>
            <a:off x="1234440" y="5349240"/>
            <a:ext cx="10332720" cy="347472"/>
          </a:xfrm>
          <a:prstGeom prst="rect">
            <a:avLst/>
          </a:prstGeom>
          <a:noFill/>
          <a:ln/>
        </p:spPr>
        <p:txBody>
          <a:bodyPr wrap="square" lIns="0" tIns="0" rIns="0" bIns="0" rtlCol="0" anchor="ctr"/>
          <a:lstStyle/>
          <a:p>
            <a:pPr indent="0" marL="0">
              <a:buNone/>
            </a:pPr>
            <a:r>
              <a:rPr lang="en-US" sz="1700" b="1" dirty="0">
                <a:solidFill>
                  <a:srgbClr val="E8EDF2"/>
                </a:solidFill>
                <a:latin typeface="Calibri" pitchFamily="34" charset="0"/>
                <a:ea typeface="Calibri" pitchFamily="34" charset="-122"/>
                <a:cs typeface="Calibri" pitchFamily="34" charset="-120"/>
              </a:rPr>
              <a:t>Routes are straight lines</a:t>
            </a:r>
            <a:endParaRPr lang="en-US" sz="1700" dirty="0"/>
          </a:p>
        </p:txBody>
      </p:sp>
      <p:sp>
        <p:nvSpPr>
          <p:cNvPr id="23" name="Text 16"/>
          <p:cNvSpPr txBox="1"/>
          <p:nvPr/>
        </p:nvSpPr>
        <p:spPr>
          <a:xfrm>
            <a:off x="1234440" y="5696712"/>
            <a:ext cx="10332720" cy="329184"/>
          </a:xfrm>
          <a:prstGeom prst="rect">
            <a:avLst/>
          </a:prstGeom>
          <a:noFill/>
          <a:ln/>
        </p:spPr>
        <p:txBody>
          <a:bodyPr wrap="square" lIns="0" tIns="0" rIns="0" bIns="0" rtlCol="0" anchor="ctr"/>
          <a:lstStyle/>
          <a:p>
            <a:pPr indent="0" marL="0">
              <a:buNone/>
            </a:pPr>
            <a:r>
              <a:rPr lang="en-US" sz="1400" dirty="0">
                <a:solidFill>
                  <a:srgbClr val="9AA6B4"/>
                </a:solidFill>
                <a:latin typeface="Calibri" pitchFamily="34" charset="0"/>
                <a:ea typeface="Calibri" pitchFamily="34" charset="-122"/>
                <a:cs typeface="Calibri" pitchFamily="34" charset="-120"/>
              </a:rPr>
              <a:t>Adequate inside NRG Park’s open lots; coarse outside it.</a:t>
            </a:r>
            <a:endParaRPr lang="en-US" sz="1400" dirty="0"/>
          </a:p>
        </p:txBody>
      </p:sp>
      <p:sp>
        <p:nvSpPr>
          <p:cNvPr id="25" name="Text 17"/>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1000" dirty="0">
                <a:solidFill>
                  <a:srgbClr val="6B7788"/>
                </a:solidFill>
                <a:latin typeface="Calibri" pitchFamily="34" charset="0"/>
                <a:ea typeface="Calibri" pitchFamily="34" charset="-122"/>
                <a:cs typeface="Calibri" pitchFamily="34" charset="-120"/>
              </a:rPr>
              <a:t>HeatShield 26  ·  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HeatShield 26 — Hackathon pitch</dc:title>
  <dc:subject>PptxGenJS Presentation</dc:subject>
  <dc:creator>Salman Aziz Khan</dc:creator>
  <cp:lastModifiedBy>Salman Aziz Khan</cp:lastModifiedBy>
  <cp:revision>1</cp:revision>
  <dcterms:created xsi:type="dcterms:W3CDTF">2026-09-15T17:37:03Z</dcterms:created>
  <dcterms:modified xsi:type="dcterms:W3CDTF">2026-09-15T17:37:03Z</dcterms:modified>
</cp:coreProperties>
</file>